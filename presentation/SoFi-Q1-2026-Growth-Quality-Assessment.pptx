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Arimo"/>
      <p:regular r:id="rId201314"/>
    </p:embeddedFont>
    <p:embeddedFont>
      <p:font typeface="Arimo Bold"/>
      <p:regular r:id="rId201315"/>
    </p:embeddedFont>
    <p:embeddedFont>
      <p:font typeface="Outfit"/>
      <p:regular r:id="rId201316"/>
    </p:embeddedFont>
    <p:embeddedFont>
      <p:font typeface="Outfit Bold"/>
      <p:regular r:id="rId201317"/>
    </p:embeddedFont>
    <p:embeddedFont>
      <p:font typeface="Outfit ExtraBold"/>
      <p:regular r:id="rId201318"/>
    </p:embeddedFont>
    <p:embeddedFont>
      <p:font typeface="Outfit Black"/>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31971">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image" Target="../media/image-2-15.png"/><Relationship Id="rId16" Type="http://schemas.openxmlformats.org/officeDocument/2006/relationships/image" Target="../media/image-2-16.svg"/><Relationship Id="rId17" Type="http://schemas.openxmlformats.org/officeDocument/2006/relationships/image" Target="../media/image-1-3.png"/><Relationship Id="rId18" Type="http://schemas.openxmlformats.org/officeDocument/2006/relationships/slideLayout" Target="../slideLayouts/slideLayout3.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3.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1-3.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1-3.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91394"/>
            <a:ext cx="6296860" cy="387648"/>
          </a:xfrm>
          <a:prstGeom prst="rect">
            <a:avLst/>
          </a:prstGeom>
          <a:noFill/>
          <a:ln/>
        </p:spPr>
        <p:txBody>
          <a:bodyPr wrap="none" lIns="0" tIns="0" rIns="0" bIns="0" rtlCol="0" anchor="t"/>
          <a:lstStyle/>
          <a:p>
            <a:pPr algn="ctr" indent="0" marL="0">
              <a:lnSpc>
                <a:spcPct val="104000"/>
              </a:lnSpc>
              <a:buNone/>
            </a:pPr>
            <a:r>
              <a:rPr lang="en-US" sz="2400" dirty="0">
                <a:solidFill>
                  <a:srgbClr val="FFFFFF"/>
                </a:solidFill>
                <a:latin typeface="Outfit ExtraBold" pitchFamily="34" charset="0"/>
                <a:ea typeface="Outfit ExtraBold" pitchFamily="34" charset="-122"/>
                <a:cs typeface="Outfit ExtraBold" pitchFamily="34" charset="-120"/>
              </a:rPr>
              <a:t>SoFi Q1 2026 Growth Quality Assessment</a:t>
            </a:r>
            <a:endParaRPr lang="en-US" sz="2400" dirty="0"/>
          </a:p>
        </p:txBody>
      </p:sp>
      <p:sp>
        <p:nvSpPr>
          <p:cNvPr id="4" name="Shape 1"/>
          <p:cNvSpPr/>
          <p:nvPr/>
        </p:nvSpPr>
        <p:spPr>
          <a:xfrm>
            <a:off x="661475" y="1518543"/>
            <a:ext cx="6296860" cy="455612"/>
          </a:xfrm>
          <a:prstGeom prst="roundRect">
            <a:avLst>
              <a:gd name="adj" fmla="val 11435"/>
            </a:avLst>
          </a:prstGeom>
          <a:solidFill>
            <a:srgbClr val="006980"/>
          </a:solidFill>
          <a:ln/>
        </p:spPr>
      </p:sp>
      <p:pic>
        <p:nvPicPr>
          <p:cNvPr id="5" name="Image 1" descr="preencoded.png">    </p:cNvPr>
          <p:cNvPicPr>
            <a:picLocks noChangeAspect="1"/>
          </p:cNvPicPr>
          <p:nvPr/>
        </p:nvPicPr>
        <p:blipFill>
          <a:blip r:embed="rId2"/>
          <a:stretch>
            <a:fillRect/>
          </a:stretch>
        </p:blipFill>
        <p:spPr>
          <a:xfrm>
            <a:off x="785495" y="1665585"/>
            <a:ext cx="193769" cy="154980"/>
          </a:xfrm>
          <a:prstGeom prst="rect">
            <a:avLst/>
          </a:prstGeom>
        </p:spPr>
      </p:pic>
      <p:sp>
        <p:nvSpPr>
          <p:cNvPr id="6" name="Text 2"/>
          <p:cNvSpPr/>
          <p:nvPr/>
        </p:nvSpPr>
        <p:spPr>
          <a:xfrm>
            <a:off x="1103285" y="1642467"/>
            <a:ext cx="6340614" cy="217091"/>
          </a:xfrm>
          <a:prstGeom prst="rect">
            <a:avLst/>
          </a:prstGeom>
          <a:noFill/>
          <a:ln/>
        </p:spPr>
        <p:txBody>
          <a:bodyPr wrap="none" lIns="0" tIns="0" rIns="0" bIns="0" rtlCol="0" anchor="t"/>
          <a:lstStyle/>
          <a:p>
            <a:pPr algn="l" indent="0" marL="0">
              <a:lnSpc>
                <a:spcPct val="117000"/>
              </a:lnSpc>
              <a:buNone/>
            </a:pPr>
            <a:r>
              <a:rPr lang="en-US" sz="1200" b="1" dirty="0">
                <a:solidFill>
                  <a:srgbClr val="FFFFFF"/>
                </a:solidFill>
                <a:latin typeface="Arimo Bold" pitchFamily="34" charset="0"/>
                <a:ea typeface="Arimo Bold" pitchFamily="34" charset="-122"/>
                <a:cs typeface="Arimo Bold" pitchFamily="34" charset="-120"/>
              </a:rPr>
              <a:t>Business Analysis Portfolio Project</a:t>
            </a:r>
            <a:endParaRPr lang="en-US" sz="1200" dirty="0"/>
          </a:p>
        </p:txBody>
      </p:sp>
      <p:sp>
        <p:nvSpPr>
          <p:cNvPr id="7" name="Shape 3"/>
          <p:cNvSpPr/>
          <p:nvPr/>
        </p:nvSpPr>
        <p:spPr>
          <a:xfrm>
            <a:off x="661475" y="2109688"/>
            <a:ext cx="6296860" cy="12700"/>
          </a:xfrm>
          <a:prstGeom prst="roundRect">
            <a:avLst>
              <a:gd name="adj" fmla="val 49999"/>
            </a:avLst>
          </a:prstGeom>
          <a:solidFill>
            <a:srgbClr val="FFFFFF">
              <a:alpha val="50000"/>
            </a:srgbClr>
          </a:solidFill>
          <a:ln/>
        </p:spPr>
      </p:sp>
      <p:sp>
        <p:nvSpPr>
          <p:cNvPr id="8" name="Shape 4"/>
          <p:cNvSpPr/>
          <p:nvPr/>
        </p:nvSpPr>
        <p:spPr>
          <a:xfrm>
            <a:off x="572180" y="2257921"/>
            <a:ext cx="3175714" cy="3179465"/>
          </a:xfrm>
          <a:prstGeom prst="roundRect">
            <a:avLst>
              <a:gd name="adj" fmla="val 2812"/>
            </a:avLst>
          </a:prstGeom>
          <a:solidFill>
            <a:srgbClr val="231971">
              <a:alpha val="95000"/>
            </a:srgbClr>
          </a:solidFill>
          <a:ln/>
        </p:spPr>
      </p:sp>
      <p:sp>
        <p:nvSpPr>
          <p:cNvPr id="9" name="Text 5"/>
          <p:cNvSpPr/>
          <p:nvPr/>
        </p:nvSpPr>
        <p:spPr>
          <a:xfrm>
            <a:off x="696201" y="2350889"/>
            <a:ext cx="2927674" cy="193774"/>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Outfit ExtraBold" pitchFamily="34" charset="0"/>
                <a:ea typeface="Outfit ExtraBold" pitchFamily="34" charset="-122"/>
                <a:cs typeface="Outfit ExtraBold" pitchFamily="34" charset="-120"/>
              </a:rPr>
              <a:t>Core Research Question</a:t>
            </a:r>
            <a:endParaRPr lang="en-US" sz="1200" dirty="0"/>
          </a:p>
        </p:txBody>
      </p:sp>
      <p:sp>
        <p:nvSpPr>
          <p:cNvPr id="10" name="Text 6"/>
          <p:cNvSpPr/>
          <p:nvPr/>
        </p:nvSpPr>
        <p:spPr>
          <a:xfrm>
            <a:off x="696201" y="2637631"/>
            <a:ext cx="2927674" cy="1125438"/>
          </a:xfrm>
          <a:prstGeom prst="rect">
            <a:avLst/>
          </a:prstGeom>
          <a:noFill/>
          <a:ln/>
        </p:spPr>
        <p:txBody>
          <a:bodyPr wrap="square" lIns="0" tIns="0" rIns="0" bIns="0" rtlCol="0" anchor="t">
            <a:normAutofit/>
          </a:bodyPr>
          <a:lstStyle/>
          <a:p>
            <a:pPr algn="l" indent="0" marL="0">
              <a:lnSpc>
                <a:spcPct val="117000"/>
              </a:lnSpc>
              <a:spcAft>
                <a:spcPts val="650"/>
              </a:spcAft>
              <a:buNone/>
            </a:pPr>
            <a:r>
              <a:rPr lang="en-US" sz="950" b="1" dirty="0">
                <a:solidFill>
                  <a:srgbClr val="FFFFFF"/>
                </a:solidFill>
                <a:latin typeface="Arimo Bold" pitchFamily="34" charset="0"/>
                <a:ea typeface="Arimo Bold" pitchFamily="34" charset="-122"/>
                <a:cs typeface="Arimo Bold" pitchFamily="34" charset="-120"/>
              </a:rPr>
              <a:t>Is SoFi's rapid Q1 2026 growth also high-quality and sustainable?</a:t>
            </a:r>
            <a:endParaRPr lang="en-US" sz="950" dirty="0"/>
          </a:p>
          <a:p>
            <a:pPr algn="l" indent="0" marL="0">
              <a:lnSpc>
                <a:spcPct val="117000"/>
              </a:lnSpc>
              <a:buNone/>
            </a:pPr>
            <a:r>
              <a:rPr lang="en-US" sz="950" dirty="0">
                <a:solidFill>
                  <a:srgbClr val="FFFFFF"/>
                </a:solidFill>
                <a:latin typeface="Arimo" pitchFamily="34" charset="0"/>
                <a:ea typeface="Arimo" pitchFamily="34" charset="-122"/>
                <a:cs typeface="Arimo" pitchFamily="34" charset="-120"/>
              </a:rPr>
              <a:t>This case study evaluates SoFi's Q1 2026 growth quality across eight business dimensions using publicly available financial, regulatory, and customer-friction data.</a:t>
            </a:r>
            <a:endParaRPr lang="en-US" sz="950" dirty="0"/>
          </a:p>
        </p:txBody>
      </p:sp>
      <p:sp>
        <p:nvSpPr>
          <p:cNvPr id="11" name="Shape 7"/>
          <p:cNvSpPr/>
          <p:nvPr/>
        </p:nvSpPr>
        <p:spPr>
          <a:xfrm>
            <a:off x="3878265" y="2257921"/>
            <a:ext cx="3175714" cy="3179465"/>
          </a:xfrm>
          <a:prstGeom prst="roundRect">
            <a:avLst>
              <a:gd name="adj" fmla="val 2812"/>
            </a:avLst>
          </a:prstGeom>
          <a:solidFill>
            <a:srgbClr val="F2F2F2">
              <a:alpha val="95000"/>
            </a:srgbClr>
          </a:solidFill>
          <a:ln/>
        </p:spPr>
      </p:sp>
      <p:sp>
        <p:nvSpPr>
          <p:cNvPr id="12" name="Text 8"/>
          <p:cNvSpPr/>
          <p:nvPr/>
        </p:nvSpPr>
        <p:spPr>
          <a:xfrm>
            <a:off x="4002285" y="2350889"/>
            <a:ext cx="2927674" cy="193774"/>
          </a:xfrm>
          <a:prstGeom prst="rect">
            <a:avLst/>
          </a:prstGeom>
          <a:noFill/>
          <a:ln/>
        </p:spPr>
        <p:txBody>
          <a:bodyPr wrap="none" lIns="0" tIns="0" rIns="0" bIns="0" rtlCol="0" anchor="t"/>
          <a:lstStyle/>
          <a:p>
            <a:pPr algn="l" indent="0" marL="0">
              <a:lnSpc>
                <a:spcPct val="104000"/>
              </a:lnSpc>
              <a:buNone/>
            </a:pPr>
            <a:r>
              <a:rPr lang="en-US" sz="1200" dirty="0">
                <a:solidFill>
                  <a:srgbClr val="231971"/>
                </a:solidFill>
                <a:latin typeface="Outfit ExtraBold" pitchFamily="34" charset="0"/>
                <a:ea typeface="Outfit ExtraBold" pitchFamily="34" charset="-122"/>
                <a:cs typeface="Outfit ExtraBold" pitchFamily="34" charset="-120"/>
              </a:rPr>
              <a:t>Scope &amp; Methodology</a:t>
            </a:r>
            <a:endParaRPr lang="en-US" sz="1200" dirty="0"/>
          </a:p>
        </p:txBody>
      </p:sp>
      <p:sp>
        <p:nvSpPr>
          <p:cNvPr id="13" name="Text 9"/>
          <p:cNvSpPr/>
          <p:nvPr/>
        </p:nvSpPr>
        <p:spPr>
          <a:xfrm>
            <a:off x="4002285" y="2637631"/>
            <a:ext cx="2927674" cy="2767211"/>
          </a:xfrm>
          <a:prstGeom prst="rect">
            <a:avLst/>
          </a:prstGeom>
          <a:noFill/>
          <a:ln/>
        </p:spPr>
        <p:txBody>
          <a:bodyPr wrap="square" lIns="0" tIns="49617" rIns="0" bIns="0" rtlCol="0" anchor="t">
            <a:normAutofit/>
          </a:bodyPr>
          <a:lstStyle/>
          <a:p>
            <a:pPr algn="l" marL="193040" indent="-193040">
              <a:lnSpc>
                <a:spcPct val="117000"/>
              </a:lnSpc>
              <a:buSzPct val="100000"/>
              <a:buChar char="•"/>
            </a:pPr>
            <a:r>
              <a:rPr lang="en-US" sz="950" b="1" dirty="0">
                <a:solidFill>
                  <a:srgbClr val="2A2742"/>
                </a:solidFill>
                <a:latin typeface="Arimo Bold" pitchFamily="34" charset="0"/>
                <a:ea typeface="Arimo Bold" pitchFamily="34" charset="-122"/>
                <a:cs typeface="Arimo Bold" pitchFamily="34" charset="-120"/>
              </a:rPr>
              <a:t>Data source:</a:t>
            </a:r>
            <a:pPr algn="l" marL="193040" indent="-193040">
              <a:lnSpc>
                <a:spcPct val="117000"/>
              </a:lnSpc>
              <a:buSzPct val="100000"/>
              <a:buChar char="•"/>
            </a:pPr>
            <a:r>
              <a:rPr lang="en-US" sz="950" dirty="0">
                <a:solidFill>
                  <a:srgbClr val="2A2742"/>
                </a:solidFill>
                <a:latin typeface="Arimo" pitchFamily="34" charset="0"/>
                <a:ea typeface="Arimo" pitchFamily="34" charset="-122"/>
                <a:cs typeface="Arimo" pitchFamily="34" charset="-120"/>
              </a:rPr>
              <a:t> Public Q1 2026 earnings disclosure, regulatory filings, and selected public datasets</a:t>
            </a:r>
            <a:endParaRPr lang="en-US" sz="950" dirty="0"/>
          </a:p>
          <a:p>
            <a:pPr algn="l" marL="193040" indent="-193040">
              <a:lnSpc>
                <a:spcPct val="117000"/>
              </a:lnSpc>
              <a:buSzPct val="100000"/>
              <a:buChar char="•"/>
            </a:pPr>
            <a:r>
              <a:rPr lang="en-US" sz="950" b="1" dirty="0">
                <a:solidFill>
                  <a:srgbClr val="2A2742"/>
                </a:solidFill>
                <a:latin typeface="Arimo Bold" pitchFamily="34" charset="0"/>
                <a:ea typeface="Arimo Bold" pitchFamily="34" charset="-122"/>
                <a:cs typeface="Arimo Bold" pitchFamily="34" charset="-120"/>
              </a:rPr>
              <a:t>Analytical framework:</a:t>
            </a:r>
            <a:pPr algn="l" marL="193040" indent="-193040">
              <a:lnSpc>
                <a:spcPct val="117000"/>
              </a:lnSpc>
              <a:buSzPct val="100000"/>
              <a:buChar char="•"/>
            </a:pPr>
            <a:r>
              <a:rPr lang="en-US" sz="950" dirty="0">
                <a:solidFill>
                  <a:srgbClr val="2A2742"/>
                </a:solidFill>
                <a:latin typeface="Arimo" pitchFamily="34" charset="0"/>
                <a:ea typeface="Arimo" pitchFamily="34" charset="-122"/>
                <a:cs typeface="Arimo" pitchFamily="34" charset="-120"/>
              </a:rPr>
              <a:t> Eight business dimensions assessing growth quality and sustainability</a:t>
            </a:r>
            <a:endParaRPr lang="en-US" sz="950" dirty="0"/>
          </a:p>
          <a:p>
            <a:pPr algn="l" marL="193040" indent="-193040">
              <a:lnSpc>
                <a:spcPct val="117000"/>
              </a:lnSpc>
              <a:buSzPct val="100000"/>
              <a:buChar char="•"/>
            </a:pPr>
            <a:r>
              <a:rPr lang="en-US" sz="950" b="1" dirty="0">
                <a:solidFill>
                  <a:srgbClr val="2A2742"/>
                </a:solidFill>
                <a:latin typeface="Arimo Bold" pitchFamily="34" charset="0"/>
                <a:ea typeface="Arimo Bold" pitchFamily="34" charset="-122"/>
                <a:cs typeface="Arimo Bold" pitchFamily="34" charset="-120"/>
              </a:rPr>
              <a:t>Growth Quality Index (GQI):</a:t>
            </a:r>
            <a:pPr algn="l" marL="193040" indent="-193040">
              <a:lnSpc>
                <a:spcPct val="117000"/>
              </a:lnSpc>
              <a:buSzPct val="100000"/>
              <a:buChar char="•"/>
            </a:pPr>
            <a:r>
              <a:rPr lang="en-US" sz="950" dirty="0">
                <a:solidFill>
                  <a:srgbClr val="2A2742"/>
                </a:solidFill>
                <a:latin typeface="Arimo" pitchFamily="34" charset="0"/>
                <a:ea typeface="Arimo" pitchFamily="34" charset="-122"/>
                <a:cs typeface="Arimo" pitchFamily="34" charset="-120"/>
              </a:rPr>
              <a:t> Independent weighted scoring framework applied to the defined performance dimensions</a:t>
            </a:r>
            <a:endParaRPr lang="en-US" sz="950" dirty="0"/>
          </a:p>
          <a:p>
            <a:pPr algn="l" marL="193040" indent="-193040">
              <a:lnSpc>
                <a:spcPct val="117000"/>
              </a:lnSpc>
              <a:buSzPct val="100000"/>
              <a:buChar char="•"/>
            </a:pPr>
            <a:r>
              <a:rPr lang="en-US" sz="950" b="1" dirty="0">
                <a:solidFill>
                  <a:srgbClr val="2A2742"/>
                </a:solidFill>
                <a:latin typeface="Arimo Bold" pitchFamily="34" charset="0"/>
                <a:ea typeface="Arimo Bold" pitchFamily="34" charset="-122"/>
                <a:cs typeface="Arimo Bold" pitchFamily="34" charset="-120"/>
              </a:rPr>
              <a:t>CFPB complaint data:</a:t>
            </a:r>
            <a:pPr algn="l" marL="193040" indent="-193040">
              <a:lnSpc>
                <a:spcPct val="117000"/>
              </a:lnSpc>
              <a:buSzPct val="100000"/>
              <a:buChar char="•"/>
            </a:pPr>
            <a:r>
              <a:rPr lang="en-US" sz="950" dirty="0">
                <a:solidFill>
                  <a:srgbClr val="2A2742"/>
                </a:solidFill>
                <a:latin typeface="Arimo" pitchFamily="34" charset="0"/>
                <a:ea typeface="Arimo" pitchFamily="34" charset="-122"/>
                <a:cs typeface="Arimo" pitchFamily="34" charset="-120"/>
              </a:rPr>
              <a:t> Used solely as an external public proxy for customer friction</a:t>
            </a:r>
            <a:endParaRPr lang="en-US" sz="950" dirty="0"/>
          </a:p>
          <a:p>
            <a:pPr algn="l" marL="193040" indent="-193040">
              <a:lnSpc>
                <a:spcPct val="117000"/>
              </a:lnSpc>
              <a:buSzPct val="100000"/>
              <a:buChar char="•"/>
            </a:pPr>
            <a:r>
              <a:rPr lang="en-US" sz="950" b="1" dirty="0">
                <a:solidFill>
                  <a:srgbClr val="2A2742"/>
                </a:solidFill>
                <a:latin typeface="Arimo Bold" pitchFamily="34" charset="0"/>
                <a:ea typeface="Arimo Bold" pitchFamily="34" charset="-122"/>
                <a:cs typeface="Arimo Bold" pitchFamily="34" charset="-120"/>
              </a:rPr>
              <a:t>Data boundary:</a:t>
            </a:r>
            <a:pPr algn="l" marL="193040" indent="-193040">
              <a:lnSpc>
                <a:spcPct val="117000"/>
              </a:lnSpc>
              <a:buSzPct val="100000"/>
              <a:buChar char="•"/>
            </a:pPr>
            <a:r>
              <a:rPr lang="en-US" sz="950" dirty="0">
                <a:solidFill>
                  <a:srgbClr val="2A2742"/>
                </a:solidFill>
                <a:latin typeface="Arimo" pitchFamily="34" charset="0"/>
                <a:ea typeface="Arimo" pitchFamily="34" charset="-122"/>
                <a:cs typeface="Arimo" pitchFamily="34" charset="-120"/>
              </a:rPr>
              <a:t> No internal SoFi data, employment, or consulting relationship implied</a:t>
            </a:r>
            <a:endParaRPr lang="en-US" sz="950" dirty="0"/>
          </a:p>
          <a:p>
            <a:pPr algn="l" marL="193040" indent="-193040">
              <a:lnSpc>
                <a:spcPct val="117000"/>
              </a:lnSpc>
              <a:buSzPct val="100000"/>
              <a:buChar char="•"/>
            </a:pPr>
            <a:r>
              <a:rPr lang="en-US" sz="950" b="1" dirty="0">
                <a:solidFill>
                  <a:srgbClr val="2A2742"/>
                </a:solidFill>
                <a:latin typeface="Arimo Bold" pitchFamily="34" charset="0"/>
                <a:ea typeface="Arimo Bold" pitchFamily="34" charset="-122"/>
                <a:cs typeface="Arimo Bold" pitchFamily="34" charset="-120"/>
              </a:rPr>
              <a:t>Investment boundary:</a:t>
            </a:r>
            <a:pPr algn="l" marL="193040" indent="-193040">
              <a:lnSpc>
                <a:spcPct val="117000"/>
              </a:lnSpc>
              <a:buSzPct val="100000"/>
              <a:buChar char="•"/>
            </a:pPr>
            <a:r>
              <a:rPr lang="en-US" sz="950" dirty="0">
                <a:solidFill>
                  <a:srgbClr val="2A2742"/>
                </a:solidFill>
                <a:latin typeface="Arimo" pitchFamily="34" charset="0"/>
                <a:ea typeface="Arimo" pitchFamily="34" charset="-122"/>
                <a:cs typeface="Arimo" pitchFamily="34" charset="-120"/>
              </a:rPr>
              <a:t> No valuation, stock recommendation, or investment view presented</a:t>
            </a:r>
            <a:endParaRPr lang="en-US" sz="950" dirty="0"/>
          </a:p>
        </p:txBody>
      </p:sp>
      <p:sp>
        <p:nvSpPr>
          <p:cNvPr id="14" name="Shape 10"/>
          <p:cNvSpPr/>
          <p:nvPr/>
        </p:nvSpPr>
        <p:spPr>
          <a:xfrm>
            <a:off x="661475" y="5541963"/>
            <a:ext cx="1444986" cy="188516"/>
          </a:xfrm>
          <a:prstGeom prst="roundRect">
            <a:avLst>
              <a:gd name="adj" fmla="val 22109"/>
            </a:avLst>
          </a:prstGeom>
          <a:noFill/>
          <a:ln w="6350">
            <a:solidFill>
              <a:srgbClr val="00B3D9"/>
            </a:solidFill>
            <a:prstDash val="solid"/>
          </a:ln>
        </p:spPr>
      </p:sp>
      <p:sp>
        <p:nvSpPr>
          <p:cNvPr id="15" name="Text 11"/>
          <p:cNvSpPr/>
          <p:nvPr/>
        </p:nvSpPr>
        <p:spPr>
          <a:xfrm>
            <a:off x="735887" y="5579170"/>
            <a:ext cx="1905746" cy="114102"/>
          </a:xfrm>
          <a:prstGeom prst="rect">
            <a:avLst/>
          </a:prstGeom>
          <a:noFill/>
          <a:ln/>
        </p:spPr>
        <p:txBody>
          <a:bodyPr wrap="none" lIns="0" tIns="0" rIns="0" bIns="0" rtlCol="0" anchor="t"/>
          <a:lstStyle/>
          <a:p>
            <a:pPr algn="l" indent="0" marL="0">
              <a:lnSpc>
                <a:spcPct val="96000"/>
              </a:lnSpc>
              <a:buNone/>
            </a:pPr>
            <a:r>
              <a:rPr lang="en-US" sz="750" dirty="0">
                <a:solidFill>
                  <a:srgbClr val="00B3D9"/>
                </a:solidFill>
                <a:latin typeface="Arimo" pitchFamily="34" charset="0"/>
                <a:ea typeface="Arimo" pitchFamily="34" charset="-122"/>
                <a:cs typeface="Arimo" pitchFamily="34" charset="-120"/>
              </a:rPr>
              <a:t>PUBLIC-DATA CASE STUDY</a:t>
            </a:r>
            <a:endParaRPr lang="en-US" sz="750" dirty="0"/>
          </a:p>
        </p:txBody>
      </p:sp>
      <p:sp>
        <p:nvSpPr>
          <p:cNvPr id="16" name="Shape 12"/>
          <p:cNvSpPr/>
          <p:nvPr/>
        </p:nvSpPr>
        <p:spPr>
          <a:xfrm>
            <a:off x="2168471" y="5541963"/>
            <a:ext cx="529120" cy="188516"/>
          </a:xfrm>
          <a:prstGeom prst="roundRect">
            <a:avLst>
              <a:gd name="adj" fmla="val 22109"/>
            </a:avLst>
          </a:prstGeom>
          <a:noFill/>
          <a:ln w="6350">
            <a:solidFill>
              <a:srgbClr val="00B3D9"/>
            </a:solidFill>
            <a:prstDash val="solid"/>
          </a:ln>
        </p:spPr>
      </p:sp>
      <p:sp>
        <p:nvSpPr>
          <p:cNvPr id="17" name="Text 13"/>
          <p:cNvSpPr/>
          <p:nvPr/>
        </p:nvSpPr>
        <p:spPr>
          <a:xfrm>
            <a:off x="2242883" y="5579170"/>
            <a:ext cx="989881" cy="114102"/>
          </a:xfrm>
          <a:prstGeom prst="rect">
            <a:avLst/>
          </a:prstGeom>
          <a:noFill/>
          <a:ln/>
        </p:spPr>
        <p:txBody>
          <a:bodyPr wrap="none" lIns="0" tIns="0" rIns="0" bIns="0" rtlCol="0" anchor="t"/>
          <a:lstStyle/>
          <a:p>
            <a:pPr algn="l" indent="0" marL="0">
              <a:lnSpc>
                <a:spcPct val="96000"/>
              </a:lnSpc>
              <a:buNone/>
            </a:pPr>
            <a:r>
              <a:rPr lang="en-US" sz="750" dirty="0">
                <a:solidFill>
                  <a:srgbClr val="00B3D9"/>
                </a:solidFill>
                <a:latin typeface="Arimo" pitchFamily="34" charset="0"/>
                <a:ea typeface="Arimo" pitchFamily="34" charset="-122"/>
                <a:cs typeface="Arimo" pitchFamily="34" charset="-120"/>
              </a:rPr>
              <a:t>Q1 2026</a:t>
            </a:r>
            <a:endParaRPr lang="en-US" sz="750" dirty="0"/>
          </a:p>
        </p:txBody>
      </p:sp>
      <p:sp>
        <p:nvSpPr>
          <p:cNvPr id="18" name="Shape 14"/>
          <p:cNvSpPr/>
          <p:nvPr/>
        </p:nvSpPr>
        <p:spPr>
          <a:xfrm>
            <a:off x="2759601" y="5541963"/>
            <a:ext cx="1713167" cy="188516"/>
          </a:xfrm>
          <a:prstGeom prst="roundRect">
            <a:avLst>
              <a:gd name="adj" fmla="val 22109"/>
            </a:avLst>
          </a:prstGeom>
          <a:noFill/>
          <a:ln w="6350">
            <a:solidFill>
              <a:srgbClr val="00B3D9"/>
            </a:solidFill>
            <a:prstDash val="solid"/>
          </a:ln>
        </p:spPr>
      </p:sp>
      <p:sp>
        <p:nvSpPr>
          <p:cNvPr id="19" name="Text 15"/>
          <p:cNvSpPr/>
          <p:nvPr/>
        </p:nvSpPr>
        <p:spPr>
          <a:xfrm>
            <a:off x="2834013" y="5579170"/>
            <a:ext cx="2173928" cy="114102"/>
          </a:xfrm>
          <a:prstGeom prst="rect">
            <a:avLst/>
          </a:prstGeom>
          <a:noFill/>
          <a:ln/>
        </p:spPr>
        <p:txBody>
          <a:bodyPr wrap="none" lIns="0" tIns="0" rIns="0" bIns="0" rtlCol="0" anchor="t"/>
          <a:lstStyle/>
          <a:p>
            <a:pPr algn="l" indent="0" marL="0">
              <a:lnSpc>
                <a:spcPct val="96000"/>
              </a:lnSpc>
              <a:buNone/>
            </a:pPr>
            <a:r>
              <a:rPr lang="en-US" sz="750" dirty="0">
                <a:solidFill>
                  <a:srgbClr val="00B3D9"/>
                </a:solidFill>
                <a:latin typeface="Arimo" pitchFamily="34" charset="0"/>
                <a:ea typeface="Arimo" pitchFamily="34" charset="-122"/>
                <a:cs typeface="Arimo" pitchFamily="34" charset="-120"/>
              </a:rPr>
              <a:t>BUSINESS ANALYST PORTFOLIO</a:t>
            </a:r>
            <a:endParaRPr lang="en-US" sz="750" dirty="0"/>
          </a:p>
        </p:txBody>
      </p:sp>
      <p:sp>
        <p:nvSpPr>
          <p:cNvPr id="20" name="Text 16"/>
          <p:cNvSpPr/>
          <p:nvPr/>
        </p:nvSpPr>
        <p:spPr>
          <a:xfrm>
            <a:off x="356682" y="5835055"/>
            <a:ext cx="6906444" cy="138906"/>
          </a:xfrm>
          <a:prstGeom prst="rect">
            <a:avLst/>
          </a:prstGeom>
          <a:noFill/>
          <a:ln/>
        </p:spPr>
        <p:txBody>
          <a:bodyPr wrap="none" lIns="0" tIns="0" rIns="0" bIns="0" rtlCol="0" anchor="t"/>
          <a:lstStyle/>
          <a:p>
            <a:pPr algn="ctr" indent="0" marL="0">
              <a:lnSpc>
                <a:spcPct val="117000"/>
              </a:lnSpc>
              <a:buNone/>
            </a:pPr>
            <a:r>
              <a:rPr lang="en-US" sz="750" dirty="0">
                <a:solidFill>
                  <a:srgbClr val="D7D3F2"/>
                </a:solidFill>
                <a:latin typeface="Arimo" pitchFamily="34" charset="0"/>
                <a:ea typeface="Arimo" pitchFamily="34" charset="-122"/>
                <a:cs typeface="Arimo" pitchFamily="34" charset="-120"/>
              </a:rPr>
              <a:t>Prepared by Junaid Shaik</a:t>
            </a:r>
            <a:endParaRPr lang="en-US" sz="750" dirty="0"/>
          </a:p>
        </p:txBody>
      </p:sp>
      <p:pic>
        <p:nvPicPr>
          <p:cNvPr id="21" name="Image 2" descr="preencoded.png">    </p:cNvPr>
          <p:cNvPicPr>
            <a:picLocks noChangeAspect="1"/>
          </p:cNvPicPr>
          <p:nvPr/>
        </p:nvPicPr>
        <p:blipFill>
          <a:blip r:embed="rId3"/>
          <a:stretch>
            <a:fillRect/>
          </a:stretch>
        </p:blipFill>
        <p:spPr>
          <a:xfrm>
            <a:off x="115686" y="130473"/>
            <a:ext cx="575752" cy="3013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64158"/>
            <a:ext cx="1807720" cy="238820"/>
          </a:xfrm>
          <a:prstGeom prst="roundRect">
            <a:avLst>
              <a:gd name="adj" fmla="val 22106"/>
            </a:avLst>
          </a:prstGeom>
          <a:solidFill>
            <a:srgbClr val="CCF6FF"/>
          </a:solidFill>
          <a:ln/>
        </p:spPr>
      </p:sp>
      <p:sp>
        <p:nvSpPr>
          <p:cNvPr id="3" name="Text 1"/>
          <p:cNvSpPr/>
          <p:nvPr/>
        </p:nvSpPr>
        <p:spPr>
          <a:xfrm>
            <a:off x="755730" y="611287"/>
            <a:ext cx="2228794" cy="144562"/>
          </a:xfrm>
          <a:prstGeom prst="rect">
            <a:avLst/>
          </a:prstGeom>
          <a:noFill/>
          <a:ln/>
        </p:spPr>
        <p:txBody>
          <a:bodyPr wrap="none" lIns="0" tIns="0" rIns="0" bIns="0" rtlCol="0" anchor="t"/>
          <a:lstStyle/>
          <a:p>
            <a:pPr algn="l" indent="0" marL="0">
              <a:lnSpc>
                <a:spcPct val="96000"/>
              </a:lnSpc>
              <a:buNone/>
            </a:pPr>
            <a:r>
              <a:rPr lang="en-US" sz="950" dirty="0">
                <a:solidFill>
                  <a:srgbClr val="2A2742"/>
                </a:solidFill>
                <a:latin typeface="Arimo" pitchFamily="34" charset="0"/>
                <a:ea typeface="Arimo" pitchFamily="34" charset="-122"/>
                <a:cs typeface="Arimo" pitchFamily="34" charset="-120"/>
              </a:rPr>
              <a:t>ANALYTICAL FRAMEWORK</a:t>
            </a:r>
            <a:endParaRPr lang="en-US" sz="950" dirty="0"/>
          </a:p>
        </p:txBody>
      </p:sp>
      <p:sp>
        <p:nvSpPr>
          <p:cNvPr id="4" name="Text 2"/>
          <p:cNvSpPr/>
          <p:nvPr/>
        </p:nvSpPr>
        <p:spPr>
          <a:xfrm>
            <a:off x="661475" y="862608"/>
            <a:ext cx="10868745" cy="981869"/>
          </a:xfrm>
          <a:prstGeom prst="rect">
            <a:avLst/>
          </a:prstGeom>
          <a:noFill/>
          <a:ln/>
        </p:spPr>
        <p:txBody>
          <a:bodyPr wrap="square" lIns="0" tIns="0" rIns="0" bIns="0" rtlCol="0" anchor="t">
            <a:normAutofit/>
          </a:bodyPr>
          <a:lstStyle/>
          <a:p>
            <a:pPr algn="l" indent="0" marL="0">
              <a:lnSpc>
                <a:spcPct val="104000"/>
              </a:lnSpc>
              <a:buNone/>
            </a:pPr>
            <a:r>
              <a:rPr lang="en-US" sz="3050" dirty="0">
                <a:solidFill>
                  <a:srgbClr val="231971"/>
                </a:solidFill>
                <a:latin typeface="Outfit ExtraBold" pitchFamily="34" charset="0"/>
                <a:ea typeface="Outfit ExtraBold" pitchFamily="34" charset="-122"/>
                <a:cs typeface="Outfit ExtraBold" pitchFamily="34" charset="-120"/>
              </a:rPr>
              <a:t>Revenue growth alone does not establish sustainable business performance</a:t>
            </a:r>
            <a:endParaRPr lang="en-US" sz="3050" dirty="0"/>
          </a:p>
        </p:txBody>
      </p:sp>
      <p:sp>
        <p:nvSpPr>
          <p:cNvPr id="5" name="Text 3"/>
          <p:cNvSpPr/>
          <p:nvPr/>
        </p:nvSpPr>
        <p:spPr>
          <a:xfrm>
            <a:off x="661475" y="2068314"/>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A2742"/>
                </a:solidFill>
                <a:latin typeface="Arimo" pitchFamily="34" charset="0"/>
                <a:ea typeface="Arimo" pitchFamily="34" charset="-122"/>
                <a:cs typeface="Arimo" pitchFamily="34" charset="-120"/>
              </a:rPr>
              <a:t>The analysis evaluates eight business dimensions to assess the quality and sustainability of Q1 2026 growth. The Growth Quality Index then applies defined signal scores and weights to the corresponding performance dimensions.</a:t>
            </a:r>
            <a:endParaRPr lang="en-US" sz="1200" dirty="0"/>
          </a:p>
        </p:txBody>
      </p:sp>
      <p:sp>
        <p:nvSpPr>
          <p:cNvPr id="6" name="Shape 4"/>
          <p:cNvSpPr/>
          <p:nvPr/>
        </p:nvSpPr>
        <p:spPr>
          <a:xfrm>
            <a:off x="661475" y="2903240"/>
            <a:ext cx="10868745" cy="19050"/>
          </a:xfrm>
          <a:prstGeom prst="roundRect">
            <a:avLst>
              <a:gd name="adj" fmla="val 49999"/>
            </a:avLst>
          </a:prstGeom>
          <a:solidFill>
            <a:srgbClr val="B2DCE5"/>
          </a:solidFill>
          <a:ln/>
        </p:spPr>
      </p:sp>
      <p:sp>
        <p:nvSpPr>
          <p:cNvPr id="7" name="Shape 5"/>
          <p:cNvSpPr/>
          <p:nvPr/>
        </p:nvSpPr>
        <p:spPr>
          <a:xfrm>
            <a:off x="1940472" y="2903190"/>
            <a:ext cx="19050" cy="471289"/>
          </a:xfrm>
          <a:prstGeom prst="roundRect">
            <a:avLst>
              <a:gd name="adj" fmla="val 49999"/>
            </a:avLst>
          </a:prstGeom>
          <a:solidFill>
            <a:srgbClr val="B2DCE5"/>
          </a:solidFill>
          <a:ln/>
        </p:spPr>
      </p:sp>
      <p:sp>
        <p:nvSpPr>
          <p:cNvPr id="8" name="Shape 6"/>
          <p:cNvSpPr/>
          <p:nvPr/>
        </p:nvSpPr>
        <p:spPr>
          <a:xfrm>
            <a:off x="1773292" y="2726482"/>
            <a:ext cx="353508" cy="353516"/>
          </a:xfrm>
          <a:prstGeom prst="roundRect">
            <a:avLst>
              <a:gd name="adj" fmla="val 18668"/>
            </a:avLst>
          </a:prstGeom>
          <a:solidFill>
            <a:srgbClr val="E3F8FD"/>
          </a:solidFill>
          <a:ln w="6350">
            <a:solidFill>
              <a:srgbClr val="B2DCE5"/>
            </a:solidFill>
            <a:prstDash val="solid"/>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32177" y="2785368"/>
            <a:ext cx="235639" cy="235645"/>
          </a:xfrm>
          <a:prstGeom prst="rect">
            <a:avLst/>
          </a:prstGeom>
        </p:spPr>
      </p:pic>
      <p:sp>
        <p:nvSpPr>
          <p:cNvPr id="10" name="Text 7"/>
          <p:cNvSpPr/>
          <p:nvPr/>
        </p:nvSpPr>
        <p:spPr>
          <a:xfrm>
            <a:off x="818534" y="3531791"/>
            <a:ext cx="2263123" cy="245566"/>
          </a:xfrm>
          <a:prstGeom prst="rect">
            <a:avLst/>
          </a:prstGeom>
          <a:noFill/>
          <a:ln/>
        </p:spPr>
        <p:txBody>
          <a:bodyPr wrap="none" lIns="0" tIns="0" rIns="0" bIns="0" rtlCol="0" anchor="t"/>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Financial Performance</a:t>
            </a:r>
            <a:endParaRPr lang="en-US" sz="1500" dirty="0"/>
          </a:p>
        </p:txBody>
      </p:sp>
      <p:sp>
        <p:nvSpPr>
          <p:cNvPr id="11" name="Text 8"/>
          <p:cNvSpPr/>
          <p:nvPr/>
        </p:nvSpPr>
        <p:spPr>
          <a:xfrm>
            <a:off x="818534" y="3866852"/>
            <a:ext cx="2263123" cy="245170"/>
          </a:xfrm>
          <a:prstGeom prst="rect">
            <a:avLst/>
          </a:prstGeom>
          <a:noFill/>
          <a:ln/>
        </p:spPr>
        <p:txBody>
          <a:bodyPr wrap="none" lIns="0" tIns="0" rIns="0" bIns="0" rtlCol="0" anchor="t"/>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Revenue, profitability, margins</a:t>
            </a:r>
            <a:endParaRPr lang="en-US" sz="1200" dirty="0"/>
          </a:p>
        </p:txBody>
      </p:sp>
      <p:sp>
        <p:nvSpPr>
          <p:cNvPr id="12" name="Shape 9"/>
          <p:cNvSpPr/>
          <p:nvPr/>
        </p:nvSpPr>
        <p:spPr>
          <a:xfrm>
            <a:off x="4704240" y="2903190"/>
            <a:ext cx="19050" cy="471289"/>
          </a:xfrm>
          <a:prstGeom prst="roundRect">
            <a:avLst>
              <a:gd name="adj" fmla="val 49999"/>
            </a:avLst>
          </a:prstGeom>
          <a:solidFill>
            <a:srgbClr val="B2DCE5"/>
          </a:solidFill>
          <a:ln/>
        </p:spPr>
      </p:sp>
      <p:sp>
        <p:nvSpPr>
          <p:cNvPr id="13" name="Shape 10"/>
          <p:cNvSpPr/>
          <p:nvPr/>
        </p:nvSpPr>
        <p:spPr>
          <a:xfrm>
            <a:off x="4537061" y="2726482"/>
            <a:ext cx="353508" cy="353516"/>
          </a:xfrm>
          <a:prstGeom prst="roundRect">
            <a:avLst>
              <a:gd name="adj" fmla="val 18668"/>
            </a:avLst>
          </a:prstGeom>
          <a:solidFill>
            <a:srgbClr val="E3F8FD"/>
          </a:solidFill>
          <a:ln w="6350">
            <a:solidFill>
              <a:srgbClr val="B2DCE5"/>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95946" y="2785368"/>
            <a:ext cx="235639" cy="235645"/>
          </a:xfrm>
          <a:prstGeom prst="rect">
            <a:avLst/>
          </a:prstGeom>
        </p:spPr>
      </p:pic>
      <p:sp>
        <p:nvSpPr>
          <p:cNvPr id="15" name="Text 11"/>
          <p:cNvSpPr/>
          <p:nvPr/>
        </p:nvSpPr>
        <p:spPr>
          <a:xfrm>
            <a:off x="3582303" y="3531791"/>
            <a:ext cx="2263222" cy="245566"/>
          </a:xfrm>
          <a:prstGeom prst="rect">
            <a:avLst/>
          </a:prstGeom>
          <a:noFill/>
          <a:ln/>
        </p:spPr>
        <p:txBody>
          <a:bodyPr wrap="none" lIns="0" tIns="0" rIns="0" bIns="0" rtlCol="0" anchor="t"/>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Customer Depth</a:t>
            </a:r>
            <a:endParaRPr lang="en-US" sz="1500" dirty="0"/>
          </a:p>
        </p:txBody>
      </p:sp>
      <p:sp>
        <p:nvSpPr>
          <p:cNvPr id="16" name="Text 12"/>
          <p:cNvSpPr/>
          <p:nvPr/>
        </p:nvSpPr>
        <p:spPr>
          <a:xfrm>
            <a:off x="3582303" y="3866852"/>
            <a:ext cx="2263222" cy="490339"/>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Member &amp; product growth, cross-buy rate</a:t>
            </a:r>
            <a:endParaRPr lang="en-US" sz="1200" dirty="0"/>
          </a:p>
        </p:txBody>
      </p:sp>
      <p:sp>
        <p:nvSpPr>
          <p:cNvPr id="17" name="Shape 13"/>
          <p:cNvSpPr/>
          <p:nvPr/>
        </p:nvSpPr>
        <p:spPr>
          <a:xfrm>
            <a:off x="7468108" y="2903190"/>
            <a:ext cx="19050" cy="471289"/>
          </a:xfrm>
          <a:prstGeom prst="roundRect">
            <a:avLst>
              <a:gd name="adj" fmla="val 49999"/>
            </a:avLst>
          </a:prstGeom>
          <a:solidFill>
            <a:srgbClr val="B2DCE5"/>
          </a:solidFill>
          <a:ln/>
        </p:spPr>
      </p:sp>
      <p:sp>
        <p:nvSpPr>
          <p:cNvPr id="18" name="Shape 14"/>
          <p:cNvSpPr/>
          <p:nvPr/>
        </p:nvSpPr>
        <p:spPr>
          <a:xfrm>
            <a:off x="7300928" y="2726482"/>
            <a:ext cx="353508" cy="353516"/>
          </a:xfrm>
          <a:prstGeom prst="roundRect">
            <a:avLst>
              <a:gd name="adj" fmla="val 18668"/>
            </a:avLst>
          </a:prstGeom>
          <a:solidFill>
            <a:srgbClr val="E3F8FD"/>
          </a:solidFill>
          <a:ln w="6350">
            <a:solidFill>
              <a:srgbClr val="B2DCE5"/>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59813" y="2785368"/>
            <a:ext cx="235639" cy="235645"/>
          </a:xfrm>
          <a:prstGeom prst="rect">
            <a:avLst/>
          </a:prstGeom>
        </p:spPr>
      </p:pic>
      <p:sp>
        <p:nvSpPr>
          <p:cNvPr id="20" name="Text 15"/>
          <p:cNvSpPr/>
          <p:nvPr/>
        </p:nvSpPr>
        <p:spPr>
          <a:xfrm>
            <a:off x="6346170" y="3531791"/>
            <a:ext cx="2263123" cy="245566"/>
          </a:xfrm>
          <a:prstGeom prst="rect">
            <a:avLst/>
          </a:prstGeom>
          <a:noFill/>
          <a:ln/>
        </p:spPr>
        <p:txBody>
          <a:bodyPr wrap="none" lIns="0" tIns="0" rIns="0" bIns="0" rtlCol="0" anchor="t"/>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Lending &amp; Credit</a:t>
            </a:r>
            <a:endParaRPr lang="en-US" sz="1500" dirty="0"/>
          </a:p>
        </p:txBody>
      </p:sp>
      <p:sp>
        <p:nvSpPr>
          <p:cNvPr id="21" name="Text 16"/>
          <p:cNvSpPr/>
          <p:nvPr/>
        </p:nvSpPr>
        <p:spPr>
          <a:xfrm>
            <a:off x="6346170" y="3866852"/>
            <a:ext cx="2263123" cy="490339"/>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Originations, portfolio quality, NCO rates</a:t>
            </a:r>
            <a:endParaRPr lang="en-US" sz="1200" dirty="0"/>
          </a:p>
        </p:txBody>
      </p:sp>
      <p:sp>
        <p:nvSpPr>
          <p:cNvPr id="22" name="Shape 17"/>
          <p:cNvSpPr/>
          <p:nvPr/>
        </p:nvSpPr>
        <p:spPr>
          <a:xfrm>
            <a:off x="10231876" y="2903190"/>
            <a:ext cx="19050" cy="471289"/>
          </a:xfrm>
          <a:prstGeom prst="roundRect">
            <a:avLst>
              <a:gd name="adj" fmla="val 49999"/>
            </a:avLst>
          </a:prstGeom>
          <a:solidFill>
            <a:srgbClr val="B2DCE5"/>
          </a:solidFill>
          <a:ln/>
        </p:spPr>
      </p:sp>
      <p:sp>
        <p:nvSpPr>
          <p:cNvPr id="23" name="Shape 18"/>
          <p:cNvSpPr/>
          <p:nvPr/>
        </p:nvSpPr>
        <p:spPr>
          <a:xfrm>
            <a:off x="10064697" y="2726482"/>
            <a:ext cx="353508" cy="353516"/>
          </a:xfrm>
          <a:prstGeom prst="roundRect">
            <a:avLst>
              <a:gd name="adj" fmla="val 18668"/>
            </a:avLst>
          </a:prstGeom>
          <a:solidFill>
            <a:srgbClr val="E3F8FD"/>
          </a:solidFill>
          <a:ln w="6350">
            <a:solidFill>
              <a:srgbClr val="B2DCE5"/>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23582" y="2785368"/>
            <a:ext cx="235639" cy="235645"/>
          </a:xfrm>
          <a:prstGeom prst="rect">
            <a:avLst/>
          </a:prstGeom>
        </p:spPr>
      </p:pic>
      <p:sp>
        <p:nvSpPr>
          <p:cNvPr id="25" name="Text 19"/>
          <p:cNvSpPr/>
          <p:nvPr/>
        </p:nvSpPr>
        <p:spPr>
          <a:xfrm>
            <a:off x="9109939" y="3531791"/>
            <a:ext cx="2263222" cy="245566"/>
          </a:xfrm>
          <a:prstGeom prst="rect">
            <a:avLst/>
          </a:prstGeom>
          <a:noFill/>
          <a:ln/>
        </p:spPr>
        <p:txBody>
          <a:bodyPr wrap="none" lIns="0" tIns="0" rIns="0" bIns="0" rtlCol="0" anchor="t"/>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Funding Quality</a:t>
            </a:r>
            <a:endParaRPr lang="en-US" sz="1500" dirty="0"/>
          </a:p>
        </p:txBody>
      </p:sp>
      <p:sp>
        <p:nvSpPr>
          <p:cNvPr id="26" name="Text 20"/>
          <p:cNvSpPr/>
          <p:nvPr/>
        </p:nvSpPr>
        <p:spPr>
          <a:xfrm>
            <a:off x="9109939" y="3866852"/>
            <a:ext cx="2263222" cy="490339"/>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Deposit growth, deposit-to-loan ratio</a:t>
            </a:r>
            <a:endParaRPr lang="en-US" sz="1200" dirty="0"/>
          </a:p>
        </p:txBody>
      </p:sp>
      <p:sp>
        <p:nvSpPr>
          <p:cNvPr id="27" name="Shape 21"/>
          <p:cNvSpPr/>
          <p:nvPr/>
        </p:nvSpPr>
        <p:spPr>
          <a:xfrm>
            <a:off x="661475" y="4701778"/>
            <a:ext cx="10868745" cy="19050"/>
          </a:xfrm>
          <a:prstGeom prst="roundRect">
            <a:avLst>
              <a:gd name="adj" fmla="val 49999"/>
            </a:avLst>
          </a:prstGeom>
          <a:solidFill>
            <a:srgbClr val="B2DCE5"/>
          </a:solidFill>
          <a:ln/>
        </p:spPr>
      </p:sp>
      <p:sp>
        <p:nvSpPr>
          <p:cNvPr id="28" name="Shape 22"/>
          <p:cNvSpPr/>
          <p:nvPr/>
        </p:nvSpPr>
        <p:spPr>
          <a:xfrm>
            <a:off x="1940472" y="4701729"/>
            <a:ext cx="19050" cy="471289"/>
          </a:xfrm>
          <a:prstGeom prst="roundRect">
            <a:avLst>
              <a:gd name="adj" fmla="val 49999"/>
            </a:avLst>
          </a:prstGeom>
          <a:solidFill>
            <a:srgbClr val="B2DCE5"/>
          </a:solidFill>
          <a:ln/>
        </p:spPr>
      </p:sp>
      <p:sp>
        <p:nvSpPr>
          <p:cNvPr id="29" name="Shape 23"/>
          <p:cNvSpPr/>
          <p:nvPr/>
        </p:nvSpPr>
        <p:spPr>
          <a:xfrm>
            <a:off x="1773292" y="4525020"/>
            <a:ext cx="353508" cy="353516"/>
          </a:xfrm>
          <a:prstGeom prst="roundRect">
            <a:avLst>
              <a:gd name="adj" fmla="val 18668"/>
            </a:avLst>
          </a:prstGeom>
          <a:solidFill>
            <a:srgbClr val="E3F8FD"/>
          </a:solidFill>
          <a:ln w="6350">
            <a:solidFill>
              <a:srgbClr val="B2DCE5"/>
            </a:solidFill>
            <a:prstDash val="solid"/>
          </a:ln>
        </p:spPr>
      </p:sp>
      <p:pic>
        <p:nvPicPr>
          <p:cNvPr id="3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32177" y="4583906"/>
            <a:ext cx="235639" cy="235645"/>
          </a:xfrm>
          <a:prstGeom prst="rect">
            <a:avLst/>
          </a:prstGeom>
        </p:spPr>
      </p:pic>
      <p:sp>
        <p:nvSpPr>
          <p:cNvPr id="31" name="Text 24"/>
          <p:cNvSpPr/>
          <p:nvPr/>
        </p:nvSpPr>
        <p:spPr>
          <a:xfrm>
            <a:off x="818534" y="5330329"/>
            <a:ext cx="2263123" cy="245566"/>
          </a:xfrm>
          <a:prstGeom prst="rect">
            <a:avLst/>
          </a:prstGeom>
          <a:noFill/>
          <a:ln/>
        </p:spPr>
        <p:txBody>
          <a:bodyPr wrap="none" lIns="0" tIns="0" rIns="0" bIns="0" rtlCol="0" anchor="t"/>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Cash Efficiency</a:t>
            </a:r>
            <a:endParaRPr lang="en-US" sz="1500" dirty="0"/>
          </a:p>
        </p:txBody>
      </p:sp>
      <p:sp>
        <p:nvSpPr>
          <p:cNvPr id="32" name="Text 25"/>
          <p:cNvSpPr/>
          <p:nvPr/>
        </p:nvSpPr>
        <p:spPr>
          <a:xfrm>
            <a:off x="818534" y="5665391"/>
            <a:ext cx="2263123" cy="490339"/>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Operating cash flow vs. net income</a:t>
            </a:r>
            <a:endParaRPr lang="en-US" sz="1200" dirty="0"/>
          </a:p>
        </p:txBody>
      </p:sp>
      <p:sp>
        <p:nvSpPr>
          <p:cNvPr id="33" name="Shape 26"/>
          <p:cNvSpPr/>
          <p:nvPr/>
        </p:nvSpPr>
        <p:spPr>
          <a:xfrm>
            <a:off x="4704240" y="4701729"/>
            <a:ext cx="19050" cy="471289"/>
          </a:xfrm>
          <a:prstGeom prst="roundRect">
            <a:avLst>
              <a:gd name="adj" fmla="val 49999"/>
            </a:avLst>
          </a:prstGeom>
          <a:solidFill>
            <a:srgbClr val="B2DCE5"/>
          </a:solidFill>
          <a:ln/>
        </p:spPr>
      </p:sp>
      <p:sp>
        <p:nvSpPr>
          <p:cNvPr id="34" name="Shape 27"/>
          <p:cNvSpPr/>
          <p:nvPr/>
        </p:nvSpPr>
        <p:spPr>
          <a:xfrm>
            <a:off x="4537061" y="4525020"/>
            <a:ext cx="353508" cy="353516"/>
          </a:xfrm>
          <a:prstGeom prst="roundRect">
            <a:avLst>
              <a:gd name="adj" fmla="val 18668"/>
            </a:avLst>
          </a:prstGeom>
          <a:solidFill>
            <a:srgbClr val="E3F8FD"/>
          </a:solidFill>
          <a:ln w="6350">
            <a:solidFill>
              <a:srgbClr val="B2DCE5"/>
            </a:solidFill>
            <a:prstDash val="solid"/>
          </a:ln>
        </p:spPr>
      </p:sp>
      <p:pic>
        <p:nvPicPr>
          <p:cNvPr id="3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95946" y="4583906"/>
            <a:ext cx="235639" cy="235645"/>
          </a:xfrm>
          <a:prstGeom prst="rect">
            <a:avLst/>
          </a:prstGeom>
        </p:spPr>
      </p:pic>
      <p:sp>
        <p:nvSpPr>
          <p:cNvPr id="36" name="Text 28"/>
          <p:cNvSpPr/>
          <p:nvPr/>
        </p:nvSpPr>
        <p:spPr>
          <a:xfrm>
            <a:off x="3582303" y="5330329"/>
            <a:ext cx="2263222" cy="245566"/>
          </a:xfrm>
          <a:prstGeom prst="rect">
            <a:avLst/>
          </a:prstGeom>
          <a:noFill/>
          <a:ln/>
        </p:spPr>
        <p:txBody>
          <a:bodyPr wrap="none" lIns="0" tIns="0" rIns="0" bIns="0" rtlCol="0" anchor="t"/>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Segment Diversification</a:t>
            </a:r>
            <a:endParaRPr lang="en-US" sz="1500" dirty="0"/>
          </a:p>
        </p:txBody>
      </p:sp>
      <p:sp>
        <p:nvSpPr>
          <p:cNvPr id="37" name="Text 29"/>
          <p:cNvSpPr/>
          <p:nvPr/>
        </p:nvSpPr>
        <p:spPr>
          <a:xfrm>
            <a:off x="3582303" y="5665391"/>
            <a:ext cx="2263222" cy="490339"/>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Revenue mix across lending, financial services, technology</a:t>
            </a:r>
            <a:endParaRPr lang="en-US" sz="1200" dirty="0"/>
          </a:p>
        </p:txBody>
      </p:sp>
      <p:sp>
        <p:nvSpPr>
          <p:cNvPr id="38" name="Shape 30"/>
          <p:cNvSpPr/>
          <p:nvPr/>
        </p:nvSpPr>
        <p:spPr>
          <a:xfrm>
            <a:off x="7468108" y="4701729"/>
            <a:ext cx="19050" cy="471289"/>
          </a:xfrm>
          <a:prstGeom prst="roundRect">
            <a:avLst>
              <a:gd name="adj" fmla="val 49999"/>
            </a:avLst>
          </a:prstGeom>
          <a:solidFill>
            <a:srgbClr val="B2DCE5"/>
          </a:solidFill>
          <a:ln/>
        </p:spPr>
      </p:sp>
      <p:sp>
        <p:nvSpPr>
          <p:cNvPr id="39" name="Shape 31"/>
          <p:cNvSpPr/>
          <p:nvPr/>
        </p:nvSpPr>
        <p:spPr>
          <a:xfrm>
            <a:off x="7300928" y="4525020"/>
            <a:ext cx="353508" cy="353516"/>
          </a:xfrm>
          <a:prstGeom prst="roundRect">
            <a:avLst>
              <a:gd name="adj" fmla="val 18668"/>
            </a:avLst>
          </a:prstGeom>
          <a:solidFill>
            <a:srgbClr val="E3F8FD"/>
          </a:solidFill>
          <a:ln w="6350">
            <a:solidFill>
              <a:srgbClr val="B2DCE5"/>
            </a:solidFill>
            <a:prstDash val="solid"/>
          </a:ln>
        </p:spPr>
      </p:sp>
      <p:pic>
        <p:nvPicPr>
          <p:cNvPr id="4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59813" y="4583906"/>
            <a:ext cx="235639" cy="235645"/>
          </a:xfrm>
          <a:prstGeom prst="rect">
            <a:avLst/>
          </a:prstGeom>
        </p:spPr>
      </p:pic>
      <p:sp>
        <p:nvSpPr>
          <p:cNvPr id="41" name="Text 32"/>
          <p:cNvSpPr/>
          <p:nvPr/>
        </p:nvSpPr>
        <p:spPr>
          <a:xfrm>
            <a:off x="6346170" y="5330329"/>
            <a:ext cx="2263123" cy="245566"/>
          </a:xfrm>
          <a:prstGeom prst="rect">
            <a:avLst/>
          </a:prstGeom>
          <a:noFill/>
          <a:ln/>
        </p:spPr>
        <p:txBody>
          <a:bodyPr wrap="none" lIns="0" tIns="0" rIns="0" bIns="0" rtlCol="0" anchor="t"/>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Customer Friction</a:t>
            </a:r>
            <a:endParaRPr lang="en-US" sz="1500" dirty="0"/>
          </a:p>
        </p:txBody>
      </p:sp>
      <p:sp>
        <p:nvSpPr>
          <p:cNvPr id="42" name="Text 33"/>
          <p:cNvSpPr/>
          <p:nvPr/>
        </p:nvSpPr>
        <p:spPr>
          <a:xfrm>
            <a:off x="6346170" y="5665391"/>
            <a:ext cx="2263123" cy="490339"/>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Public complaint signals and trends</a:t>
            </a:r>
            <a:endParaRPr lang="en-US" sz="1200" dirty="0"/>
          </a:p>
        </p:txBody>
      </p:sp>
      <p:sp>
        <p:nvSpPr>
          <p:cNvPr id="43" name="Shape 34"/>
          <p:cNvSpPr/>
          <p:nvPr/>
        </p:nvSpPr>
        <p:spPr>
          <a:xfrm>
            <a:off x="10231876" y="4701729"/>
            <a:ext cx="19050" cy="471289"/>
          </a:xfrm>
          <a:prstGeom prst="roundRect">
            <a:avLst>
              <a:gd name="adj" fmla="val 49999"/>
            </a:avLst>
          </a:prstGeom>
          <a:solidFill>
            <a:srgbClr val="B2DCE5"/>
          </a:solidFill>
          <a:ln/>
        </p:spPr>
      </p:sp>
      <p:sp>
        <p:nvSpPr>
          <p:cNvPr id="44" name="Shape 35"/>
          <p:cNvSpPr/>
          <p:nvPr/>
        </p:nvSpPr>
        <p:spPr>
          <a:xfrm>
            <a:off x="10064697" y="4525020"/>
            <a:ext cx="353508" cy="353516"/>
          </a:xfrm>
          <a:prstGeom prst="roundRect">
            <a:avLst>
              <a:gd name="adj" fmla="val 18668"/>
            </a:avLst>
          </a:prstGeom>
          <a:solidFill>
            <a:srgbClr val="E3F8FD"/>
          </a:solidFill>
          <a:ln w="6350">
            <a:solidFill>
              <a:srgbClr val="B2DCE5"/>
            </a:solidFill>
            <a:prstDash val="solid"/>
          </a:ln>
        </p:spPr>
      </p:sp>
      <p:pic>
        <p:nvPicPr>
          <p:cNvPr id="4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123582" y="4583906"/>
            <a:ext cx="235639" cy="235645"/>
          </a:xfrm>
          <a:prstGeom prst="rect">
            <a:avLst/>
          </a:prstGeom>
        </p:spPr>
      </p:pic>
      <p:sp>
        <p:nvSpPr>
          <p:cNvPr id="46" name="Text 36"/>
          <p:cNvSpPr/>
          <p:nvPr/>
        </p:nvSpPr>
        <p:spPr>
          <a:xfrm>
            <a:off x="9109939" y="5330329"/>
            <a:ext cx="2263222" cy="491133"/>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Technology Platform Performance</a:t>
            </a:r>
            <a:endParaRPr lang="en-US" sz="1500" dirty="0"/>
          </a:p>
        </p:txBody>
      </p:sp>
      <p:sp>
        <p:nvSpPr>
          <p:cNvPr id="47" name="Text 37"/>
          <p:cNvSpPr/>
          <p:nvPr/>
        </p:nvSpPr>
        <p:spPr>
          <a:xfrm>
            <a:off x="9109939" y="5910957"/>
            <a:ext cx="2263222" cy="490339"/>
          </a:xfrm>
          <a:prstGeom prst="rect">
            <a:avLst/>
          </a:prstGeom>
          <a:noFill/>
          <a:ln/>
        </p:spPr>
        <p:txBody>
          <a:bodyPr wrap="square" lIns="0" tIns="0" rIns="0" bIns="0" rtlCol="0" anchor="t">
            <a:normAutofit/>
          </a:bodyPr>
          <a:lstStyle/>
          <a:p>
            <a:pPr algn="ctr" indent="0" marL="0">
              <a:lnSpc>
                <a:spcPct val="130000"/>
              </a:lnSpc>
              <a:buNone/>
            </a:pPr>
            <a:r>
              <a:rPr lang="en-US" sz="1200" dirty="0">
                <a:solidFill>
                  <a:srgbClr val="2A2742"/>
                </a:solidFill>
                <a:latin typeface="Arimo" pitchFamily="34" charset="0"/>
                <a:ea typeface="Arimo" pitchFamily="34" charset="-122"/>
                <a:cs typeface="Arimo" pitchFamily="34" charset="-120"/>
              </a:rPr>
              <a:t>Revenue and contribution-margin trajectory</a:t>
            </a:r>
            <a:endParaRPr lang="en-US" sz="1200" dirty="0"/>
          </a:p>
        </p:txBody>
      </p:sp>
      <p:pic>
        <p:nvPicPr>
          <p:cNvPr id="48" name="Image 8" descr="preencoded.png">    </p:cNvPr>
          <p:cNvPicPr>
            <a:picLocks noChangeAspect="1"/>
          </p:cNvPicPr>
          <p:nvPr/>
        </p:nvPicPr>
        <p:blipFill>
          <a:blip r:embed="rId17"/>
          <a:stretch>
            <a:fillRect/>
          </a:stretch>
        </p:blipFill>
        <p:spPr>
          <a:xfrm>
            <a:off x="115686" y="130473"/>
            <a:ext cx="575752" cy="3013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756841"/>
            <a:ext cx="1193076" cy="201116"/>
          </a:xfrm>
          <a:prstGeom prst="roundRect">
            <a:avLst>
              <a:gd name="adj" fmla="val 22105"/>
            </a:avLst>
          </a:prstGeom>
          <a:solidFill>
            <a:srgbClr val="CCF6FF"/>
          </a:solidFill>
          <a:ln/>
        </p:spPr>
      </p:sp>
      <p:sp>
        <p:nvSpPr>
          <p:cNvPr id="3" name="Text 1"/>
          <p:cNvSpPr/>
          <p:nvPr/>
        </p:nvSpPr>
        <p:spPr>
          <a:xfrm>
            <a:off x="740848" y="796528"/>
            <a:ext cx="1643914" cy="121741"/>
          </a:xfrm>
          <a:prstGeom prst="rect">
            <a:avLst/>
          </a:prstGeom>
          <a:noFill/>
          <a:ln/>
        </p:spPr>
        <p:txBody>
          <a:bodyPr wrap="none" lIns="0" tIns="0" rIns="0" bIns="0" rtlCol="0" anchor="t"/>
          <a:lstStyle/>
          <a:p>
            <a:pPr algn="l" indent="0" marL="0">
              <a:lnSpc>
                <a:spcPct val="96000"/>
              </a:lnSpc>
              <a:buNone/>
            </a:pPr>
            <a:r>
              <a:rPr lang="en-US" sz="800" dirty="0">
                <a:solidFill>
                  <a:srgbClr val="2A2742"/>
                </a:solidFill>
                <a:latin typeface="Arimo" pitchFamily="34" charset="0"/>
                <a:ea typeface="Arimo" pitchFamily="34" charset="-122"/>
                <a:cs typeface="Arimo" pitchFamily="34" charset="-120"/>
              </a:rPr>
              <a:t>HEADLINE METRICS</a:t>
            </a:r>
            <a:endParaRPr lang="en-US" sz="800" dirty="0"/>
          </a:p>
        </p:txBody>
      </p:sp>
      <p:sp>
        <p:nvSpPr>
          <p:cNvPr id="4" name="Text 2"/>
          <p:cNvSpPr/>
          <p:nvPr/>
        </p:nvSpPr>
        <p:spPr>
          <a:xfrm>
            <a:off x="661475" y="1000224"/>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231971"/>
                </a:solidFill>
                <a:latin typeface="Outfit ExtraBold" pitchFamily="34" charset="0"/>
                <a:ea typeface="Outfit ExtraBold" pitchFamily="34" charset="-122"/>
                <a:cs typeface="Outfit ExtraBold" pitchFamily="34" charset="-120"/>
              </a:rPr>
              <a:t>Q1 growth was broad, measurable, and profitable</a:t>
            </a:r>
            <a:endParaRPr lang="en-US" sz="2600" dirty="0"/>
          </a:p>
        </p:txBody>
      </p:sp>
      <p:sp>
        <p:nvSpPr>
          <p:cNvPr id="5" name="Text 3"/>
          <p:cNvSpPr/>
          <p:nvPr/>
        </p:nvSpPr>
        <p:spPr>
          <a:xfrm>
            <a:off x="661475" y="1572419"/>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2A2742"/>
                </a:solidFill>
                <a:latin typeface="Arimo" pitchFamily="34" charset="0"/>
                <a:ea typeface="Arimo" pitchFamily="34" charset="-122"/>
                <a:cs typeface="Arimo" pitchFamily="34" charset="-120"/>
              </a:rPr>
              <a:t>Headline scale and profitability metrics strengthened materially in Q1 2026</a:t>
            </a:r>
            <a:endParaRPr lang="en-US" sz="1000" dirty="0"/>
          </a:p>
        </p:txBody>
      </p:sp>
      <p:sp>
        <p:nvSpPr>
          <p:cNvPr id="6" name="Text 4"/>
          <p:cNvSpPr/>
          <p:nvPr/>
        </p:nvSpPr>
        <p:spPr>
          <a:xfrm>
            <a:off x="1198334" y="1948061"/>
            <a:ext cx="4294477" cy="436662"/>
          </a:xfrm>
          <a:prstGeom prst="rect">
            <a:avLst/>
          </a:prstGeom>
          <a:noFill/>
          <a:ln/>
        </p:spPr>
        <p:txBody>
          <a:bodyPr wrap="none" lIns="0" tIns="0" rIns="0" bIns="0" rtlCol="0" anchor="t"/>
          <a:lstStyle/>
          <a:p>
            <a:pPr algn="ctr" indent="0" marL="0">
              <a:lnSpc>
                <a:spcPct val="83000"/>
              </a:lnSpc>
              <a:buNone/>
            </a:pPr>
            <a:r>
              <a:rPr lang="en-US" sz="3400" dirty="0">
                <a:solidFill>
                  <a:srgbClr val="2A2742"/>
                </a:solidFill>
                <a:latin typeface="Outfit ExtraBold" pitchFamily="34" charset="0"/>
                <a:ea typeface="Outfit ExtraBold" pitchFamily="34" charset="-122"/>
                <a:cs typeface="Outfit ExtraBold" pitchFamily="34" charset="-120"/>
              </a:rPr>
              <a:t>$1.10B</a:t>
            </a:r>
            <a:endParaRPr lang="en-US" sz="3400" dirty="0"/>
          </a:p>
        </p:txBody>
      </p:sp>
      <p:sp>
        <p:nvSpPr>
          <p:cNvPr id="7" name="Text 5"/>
          <p:cNvSpPr/>
          <p:nvPr/>
        </p:nvSpPr>
        <p:spPr>
          <a:xfrm>
            <a:off x="661475" y="2530177"/>
            <a:ext cx="5368195" cy="206673"/>
          </a:xfrm>
          <a:prstGeom prst="rect">
            <a:avLst/>
          </a:prstGeom>
          <a:noFill/>
          <a:ln/>
        </p:spPr>
        <p:txBody>
          <a:bodyPr wrap="none" lIns="0" tIns="0" rIns="0" bIns="0" rtlCol="0" anchor="t"/>
          <a:lstStyle/>
          <a:p>
            <a:pPr algn="ctr" indent="0" marL="0">
              <a:lnSpc>
                <a:spcPct val="104000"/>
              </a:lnSpc>
              <a:buNone/>
            </a:pPr>
            <a:r>
              <a:rPr lang="en-US" sz="1300" dirty="0">
                <a:solidFill>
                  <a:srgbClr val="2A2742"/>
                </a:solidFill>
                <a:latin typeface="Outfit ExtraBold" pitchFamily="34" charset="0"/>
                <a:ea typeface="Outfit ExtraBold" pitchFamily="34" charset="-122"/>
                <a:cs typeface="Outfit ExtraBold" pitchFamily="34" charset="-120"/>
              </a:rPr>
              <a:t>Total Revenue</a:t>
            </a:r>
            <a:endParaRPr lang="en-US" sz="1300" dirty="0"/>
          </a:p>
        </p:txBody>
      </p:sp>
      <p:sp>
        <p:nvSpPr>
          <p:cNvPr id="8" name="Text 6"/>
          <p:cNvSpPr/>
          <p:nvPr/>
        </p:nvSpPr>
        <p:spPr>
          <a:xfrm>
            <a:off x="661475" y="2800350"/>
            <a:ext cx="5368195" cy="190500"/>
          </a:xfrm>
          <a:prstGeom prst="rect">
            <a:avLst/>
          </a:prstGeom>
          <a:noFill/>
          <a:ln/>
        </p:spPr>
        <p:txBody>
          <a:bodyPr wrap="none" lIns="0" tIns="0" rIns="0" bIns="0" rtlCol="0" anchor="t"/>
          <a:lstStyle/>
          <a:p>
            <a:pPr algn="ctr" indent="0" marL="0">
              <a:lnSpc>
                <a:spcPct val="120000"/>
              </a:lnSpc>
              <a:buNone/>
            </a:pPr>
            <a:r>
              <a:rPr lang="en-US" sz="1000" dirty="0">
                <a:solidFill>
                  <a:srgbClr val="2E7D32"/>
                </a:solidFill>
                <a:latin typeface="Arimo" pitchFamily="34" charset="0"/>
                <a:ea typeface="Arimo" pitchFamily="34" charset="-122"/>
                <a:cs typeface="Arimo" pitchFamily="34" charset="-120"/>
              </a:rPr>
              <a:t>+43% YoY</a:t>
            </a:r>
            <a:pPr algn="ctr" indent="0" marL="0">
              <a:lnSpc>
                <a:spcPct val="120000"/>
              </a:lnSpc>
              <a:buNone/>
            </a:pPr>
            <a:r>
              <a:rPr lang="en-US" sz="1000" dirty="0">
                <a:solidFill>
                  <a:srgbClr val="2A2742"/>
                </a:solidFill>
                <a:latin typeface="Arimo" pitchFamily="34" charset="0"/>
                <a:ea typeface="Arimo" pitchFamily="34" charset="-122"/>
                <a:cs typeface="Arimo" pitchFamily="34" charset="-120"/>
              </a:rPr>
              <a:t> — accelerating top-line at scale</a:t>
            </a:r>
            <a:endParaRPr lang="en-US" sz="1000" dirty="0"/>
          </a:p>
        </p:txBody>
      </p:sp>
      <p:sp>
        <p:nvSpPr>
          <p:cNvPr id="9" name="Text 7"/>
          <p:cNvSpPr/>
          <p:nvPr/>
        </p:nvSpPr>
        <p:spPr>
          <a:xfrm>
            <a:off x="6698785" y="1948061"/>
            <a:ext cx="4294576" cy="436662"/>
          </a:xfrm>
          <a:prstGeom prst="rect">
            <a:avLst/>
          </a:prstGeom>
          <a:noFill/>
          <a:ln/>
        </p:spPr>
        <p:txBody>
          <a:bodyPr wrap="none" lIns="0" tIns="0" rIns="0" bIns="0" rtlCol="0" anchor="t"/>
          <a:lstStyle/>
          <a:p>
            <a:pPr algn="ctr" indent="0" marL="0">
              <a:lnSpc>
                <a:spcPct val="83000"/>
              </a:lnSpc>
              <a:buNone/>
            </a:pPr>
            <a:r>
              <a:rPr lang="en-US" sz="3400" dirty="0">
                <a:solidFill>
                  <a:srgbClr val="2A2742"/>
                </a:solidFill>
                <a:latin typeface="Outfit ExtraBold" pitchFamily="34" charset="0"/>
                <a:ea typeface="Outfit ExtraBold" pitchFamily="34" charset="-122"/>
                <a:cs typeface="Outfit ExtraBold" pitchFamily="34" charset="-120"/>
              </a:rPr>
              <a:t>$166.7M</a:t>
            </a:r>
            <a:endParaRPr lang="en-US" sz="3400" dirty="0"/>
          </a:p>
        </p:txBody>
      </p:sp>
      <p:sp>
        <p:nvSpPr>
          <p:cNvPr id="10" name="Text 8"/>
          <p:cNvSpPr/>
          <p:nvPr/>
        </p:nvSpPr>
        <p:spPr>
          <a:xfrm>
            <a:off x="6161926" y="2530177"/>
            <a:ext cx="5368295" cy="206673"/>
          </a:xfrm>
          <a:prstGeom prst="rect">
            <a:avLst/>
          </a:prstGeom>
          <a:noFill/>
          <a:ln/>
        </p:spPr>
        <p:txBody>
          <a:bodyPr wrap="none" lIns="0" tIns="0" rIns="0" bIns="0" rtlCol="0" anchor="t"/>
          <a:lstStyle/>
          <a:p>
            <a:pPr algn="ctr" indent="0" marL="0">
              <a:lnSpc>
                <a:spcPct val="104000"/>
              </a:lnSpc>
              <a:buNone/>
            </a:pPr>
            <a:r>
              <a:rPr lang="en-US" sz="1300" dirty="0">
                <a:solidFill>
                  <a:srgbClr val="2A2742"/>
                </a:solidFill>
                <a:latin typeface="Outfit ExtraBold" pitchFamily="34" charset="0"/>
                <a:ea typeface="Outfit ExtraBold" pitchFamily="34" charset="-122"/>
                <a:cs typeface="Outfit ExtraBold" pitchFamily="34" charset="-120"/>
              </a:rPr>
              <a:t>GAAP Net Income</a:t>
            </a:r>
            <a:endParaRPr lang="en-US" sz="1300" dirty="0"/>
          </a:p>
        </p:txBody>
      </p:sp>
      <p:sp>
        <p:nvSpPr>
          <p:cNvPr id="11" name="Text 9"/>
          <p:cNvSpPr/>
          <p:nvPr/>
        </p:nvSpPr>
        <p:spPr>
          <a:xfrm>
            <a:off x="6161926" y="2800350"/>
            <a:ext cx="5368295" cy="190500"/>
          </a:xfrm>
          <a:prstGeom prst="rect">
            <a:avLst/>
          </a:prstGeom>
          <a:noFill/>
          <a:ln/>
        </p:spPr>
        <p:txBody>
          <a:bodyPr wrap="none" lIns="0" tIns="0" rIns="0" bIns="0" rtlCol="0" anchor="t"/>
          <a:lstStyle/>
          <a:p>
            <a:pPr algn="ctr" indent="0" marL="0">
              <a:lnSpc>
                <a:spcPct val="120000"/>
              </a:lnSpc>
              <a:buNone/>
            </a:pPr>
            <a:r>
              <a:rPr lang="en-US" sz="1000" dirty="0">
                <a:solidFill>
                  <a:srgbClr val="2E7D32"/>
                </a:solidFill>
                <a:latin typeface="Arimo" pitchFamily="34" charset="0"/>
                <a:ea typeface="Arimo" pitchFamily="34" charset="-122"/>
                <a:cs typeface="Arimo" pitchFamily="34" charset="-120"/>
              </a:rPr>
              <a:t>+134% YoY</a:t>
            </a:r>
            <a:pPr algn="ctr" indent="0" marL="0">
              <a:lnSpc>
                <a:spcPct val="120000"/>
              </a:lnSpc>
              <a:buNone/>
            </a:pPr>
            <a:r>
              <a:rPr lang="en-US" sz="1000" dirty="0">
                <a:solidFill>
                  <a:srgbClr val="2A2742"/>
                </a:solidFill>
                <a:latin typeface="Arimo" pitchFamily="34" charset="0"/>
                <a:ea typeface="Arimo" pitchFamily="34" charset="-122"/>
                <a:cs typeface="Arimo" pitchFamily="34" charset="-120"/>
              </a:rPr>
              <a:t> — profitability deepening faster than revenue</a:t>
            </a:r>
            <a:endParaRPr lang="en-US" sz="1000" dirty="0"/>
          </a:p>
        </p:txBody>
      </p:sp>
      <p:sp>
        <p:nvSpPr>
          <p:cNvPr id="12" name="Text 10"/>
          <p:cNvSpPr/>
          <p:nvPr/>
        </p:nvSpPr>
        <p:spPr>
          <a:xfrm>
            <a:off x="1198334" y="3268563"/>
            <a:ext cx="4294477" cy="436662"/>
          </a:xfrm>
          <a:prstGeom prst="rect">
            <a:avLst/>
          </a:prstGeom>
          <a:noFill/>
          <a:ln/>
        </p:spPr>
        <p:txBody>
          <a:bodyPr wrap="none" lIns="0" tIns="0" rIns="0" bIns="0" rtlCol="0" anchor="t"/>
          <a:lstStyle/>
          <a:p>
            <a:pPr algn="ctr" indent="0" marL="0">
              <a:lnSpc>
                <a:spcPct val="83000"/>
              </a:lnSpc>
              <a:buNone/>
            </a:pPr>
            <a:r>
              <a:rPr lang="en-US" sz="3400" dirty="0">
                <a:solidFill>
                  <a:srgbClr val="2A2742"/>
                </a:solidFill>
                <a:latin typeface="Outfit ExtraBold" pitchFamily="34" charset="0"/>
                <a:ea typeface="Outfit ExtraBold" pitchFamily="34" charset="-122"/>
                <a:cs typeface="Outfit ExtraBold" pitchFamily="34" charset="-120"/>
              </a:rPr>
              <a:t>$339.9M</a:t>
            </a:r>
            <a:endParaRPr lang="en-US" sz="3400" dirty="0"/>
          </a:p>
        </p:txBody>
      </p:sp>
      <p:sp>
        <p:nvSpPr>
          <p:cNvPr id="13" name="Text 11"/>
          <p:cNvSpPr/>
          <p:nvPr/>
        </p:nvSpPr>
        <p:spPr>
          <a:xfrm>
            <a:off x="661475" y="3850680"/>
            <a:ext cx="5368195" cy="206673"/>
          </a:xfrm>
          <a:prstGeom prst="rect">
            <a:avLst/>
          </a:prstGeom>
          <a:noFill/>
          <a:ln/>
        </p:spPr>
        <p:txBody>
          <a:bodyPr wrap="none" lIns="0" tIns="0" rIns="0" bIns="0" rtlCol="0" anchor="t"/>
          <a:lstStyle/>
          <a:p>
            <a:pPr algn="ctr" indent="0" marL="0">
              <a:lnSpc>
                <a:spcPct val="104000"/>
              </a:lnSpc>
              <a:buNone/>
            </a:pPr>
            <a:r>
              <a:rPr lang="en-US" sz="1300" dirty="0">
                <a:solidFill>
                  <a:srgbClr val="2A2742"/>
                </a:solidFill>
                <a:latin typeface="Outfit ExtraBold" pitchFamily="34" charset="0"/>
                <a:ea typeface="Outfit ExtraBold" pitchFamily="34" charset="-122"/>
                <a:cs typeface="Outfit ExtraBold" pitchFamily="34" charset="-120"/>
              </a:rPr>
              <a:t>Adjusted EBITDA</a:t>
            </a:r>
            <a:endParaRPr lang="en-US" sz="1300" dirty="0"/>
          </a:p>
        </p:txBody>
      </p:sp>
      <p:sp>
        <p:nvSpPr>
          <p:cNvPr id="14" name="Text 12"/>
          <p:cNvSpPr/>
          <p:nvPr/>
        </p:nvSpPr>
        <p:spPr>
          <a:xfrm>
            <a:off x="661475" y="4120852"/>
            <a:ext cx="5368195" cy="190500"/>
          </a:xfrm>
          <a:prstGeom prst="rect">
            <a:avLst/>
          </a:prstGeom>
          <a:noFill/>
          <a:ln/>
        </p:spPr>
        <p:txBody>
          <a:bodyPr wrap="none" lIns="0" tIns="0" rIns="0" bIns="0" rtlCol="0" anchor="t"/>
          <a:lstStyle/>
          <a:p>
            <a:pPr algn="ctr" indent="0" marL="0">
              <a:lnSpc>
                <a:spcPct val="120000"/>
              </a:lnSpc>
              <a:buNone/>
            </a:pPr>
            <a:r>
              <a:rPr lang="en-US" sz="1000" dirty="0">
                <a:solidFill>
                  <a:srgbClr val="2A2742"/>
                </a:solidFill>
                <a:latin typeface="Arimo" pitchFamily="34" charset="0"/>
                <a:ea typeface="Arimo" pitchFamily="34" charset="-122"/>
                <a:cs typeface="Arimo" pitchFamily="34" charset="-120"/>
              </a:rPr>
              <a:t>31.3% margin — operationally efficient at current scale</a:t>
            </a:r>
            <a:endParaRPr lang="en-US" sz="1000" dirty="0"/>
          </a:p>
        </p:txBody>
      </p:sp>
      <p:sp>
        <p:nvSpPr>
          <p:cNvPr id="15" name="Text 13"/>
          <p:cNvSpPr/>
          <p:nvPr/>
        </p:nvSpPr>
        <p:spPr>
          <a:xfrm>
            <a:off x="6698785" y="3268563"/>
            <a:ext cx="4294576" cy="436662"/>
          </a:xfrm>
          <a:prstGeom prst="rect">
            <a:avLst/>
          </a:prstGeom>
          <a:noFill/>
          <a:ln/>
        </p:spPr>
        <p:txBody>
          <a:bodyPr wrap="none" lIns="0" tIns="0" rIns="0" bIns="0" rtlCol="0" anchor="t"/>
          <a:lstStyle/>
          <a:p>
            <a:pPr algn="ctr" indent="0" marL="0">
              <a:lnSpc>
                <a:spcPct val="83000"/>
              </a:lnSpc>
              <a:buNone/>
            </a:pPr>
            <a:r>
              <a:rPr lang="en-US" sz="3400" dirty="0">
                <a:solidFill>
                  <a:srgbClr val="2A2742"/>
                </a:solidFill>
                <a:latin typeface="Outfit ExtraBold" pitchFamily="34" charset="0"/>
                <a:ea typeface="Outfit ExtraBold" pitchFamily="34" charset="-122"/>
                <a:cs typeface="Outfit ExtraBold" pitchFamily="34" charset="-120"/>
              </a:rPr>
              <a:t>14.7M</a:t>
            </a:r>
            <a:endParaRPr lang="en-US" sz="3400" dirty="0"/>
          </a:p>
        </p:txBody>
      </p:sp>
      <p:sp>
        <p:nvSpPr>
          <p:cNvPr id="16" name="Text 14"/>
          <p:cNvSpPr/>
          <p:nvPr/>
        </p:nvSpPr>
        <p:spPr>
          <a:xfrm>
            <a:off x="6161926" y="3850680"/>
            <a:ext cx="5368295" cy="206673"/>
          </a:xfrm>
          <a:prstGeom prst="rect">
            <a:avLst/>
          </a:prstGeom>
          <a:noFill/>
          <a:ln/>
        </p:spPr>
        <p:txBody>
          <a:bodyPr wrap="none" lIns="0" tIns="0" rIns="0" bIns="0" rtlCol="0" anchor="t"/>
          <a:lstStyle/>
          <a:p>
            <a:pPr algn="ctr" indent="0" marL="0">
              <a:lnSpc>
                <a:spcPct val="104000"/>
              </a:lnSpc>
              <a:buNone/>
            </a:pPr>
            <a:r>
              <a:rPr lang="en-US" sz="1300" dirty="0">
                <a:solidFill>
                  <a:srgbClr val="2A2742"/>
                </a:solidFill>
                <a:latin typeface="Outfit ExtraBold" pitchFamily="34" charset="0"/>
                <a:ea typeface="Outfit ExtraBold" pitchFamily="34" charset="-122"/>
                <a:cs typeface="Outfit ExtraBold" pitchFamily="34" charset="-120"/>
              </a:rPr>
              <a:t>Total Members</a:t>
            </a:r>
            <a:endParaRPr lang="en-US" sz="1300" dirty="0"/>
          </a:p>
        </p:txBody>
      </p:sp>
      <p:sp>
        <p:nvSpPr>
          <p:cNvPr id="17" name="Text 15"/>
          <p:cNvSpPr/>
          <p:nvPr/>
        </p:nvSpPr>
        <p:spPr>
          <a:xfrm>
            <a:off x="6161926" y="4120852"/>
            <a:ext cx="5368295" cy="190500"/>
          </a:xfrm>
          <a:prstGeom prst="rect">
            <a:avLst/>
          </a:prstGeom>
          <a:noFill/>
          <a:ln/>
        </p:spPr>
        <p:txBody>
          <a:bodyPr wrap="none" lIns="0" tIns="0" rIns="0" bIns="0" rtlCol="0" anchor="t"/>
          <a:lstStyle/>
          <a:p>
            <a:pPr algn="ctr" indent="0" marL="0">
              <a:lnSpc>
                <a:spcPct val="120000"/>
              </a:lnSpc>
              <a:buNone/>
            </a:pPr>
            <a:r>
              <a:rPr lang="en-US" sz="1000" dirty="0">
                <a:solidFill>
                  <a:srgbClr val="2E7D32"/>
                </a:solidFill>
                <a:latin typeface="Arimo" pitchFamily="34" charset="0"/>
                <a:ea typeface="Arimo" pitchFamily="34" charset="-122"/>
                <a:cs typeface="Arimo" pitchFamily="34" charset="-120"/>
              </a:rPr>
              <a:t>+35% YoY</a:t>
            </a:r>
            <a:pPr algn="ctr" indent="0" marL="0">
              <a:lnSpc>
                <a:spcPct val="120000"/>
              </a:lnSpc>
              <a:buNone/>
            </a:pPr>
            <a:r>
              <a:rPr lang="en-US" sz="1000" dirty="0">
                <a:solidFill>
                  <a:srgbClr val="2A2742"/>
                </a:solidFill>
                <a:latin typeface="Arimo" pitchFamily="34" charset="0"/>
                <a:ea typeface="Arimo" pitchFamily="34" charset="-122"/>
                <a:cs typeface="Arimo" pitchFamily="34" charset="-120"/>
              </a:rPr>
              <a:t> — customer base expanding broadly</a:t>
            </a:r>
            <a:endParaRPr lang="en-US" sz="1000" dirty="0"/>
          </a:p>
        </p:txBody>
      </p:sp>
      <p:sp>
        <p:nvSpPr>
          <p:cNvPr id="18" name="Text 16"/>
          <p:cNvSpPr/>
          <p:nvPr/>
        </p:nvSpPr>
        <p:spPr>
          <a:xfrm>
            <a:off x="1198334" y="4589066"/>
            <a:ext cx="4294477" cy="436662"/>
          </a:xfrm>
          <a:prstGeom prst="rect">
            <a:avLst/>
          </a:prstGeom>
          <a:noFill/>
          <a:ln/>
        </p:spPr>
        <p:txBody>
          <a:bodyPr wrap="none" lIns="0" tIns="0" rIns="0" bIns="0" rtlCol="0" anchor="t"/>
          <a:lstStyle/>
          <a:p>
            <a:pPr algn="ctr" indent="0" marL="0">
              <a:lnSpc>
                <a:spcPct val="83000"/>
              </a:lnSpc>
              <a:buNone/>
            </a:pPr>
            <a:r>
              <a:rPr lang="en-US" sz="3400" dirty="0">
                <a:solidFill>
                  <a:srgbClr val="2A2742"/>
                </a:solidFill>
                <a:latin typeface="Outfit ExtraBold" pitchFamily="34" charset="0"/>
                <a:ea typeface="Outfit ExtraBold" pitchFamily="34" charset="-122"/>
                <a:cs typeface="Outfit ExtraBold" pitchFamily="34" charset="-120"/>
              </a:rPr>
              <a:t>22.2M</a:t>
            </a:r>
            <a:endParaRPr lang="en-US" sz="3400" dirty="0"/>
          </a:p>
        </p:txBody>
      </p:sp>
      <p:sp>
        <p:nvSpPr>
          <p:cNvPr id="19" name="Text 17"/>
          <p:cNvSpPr/>
          <p:nvPr/>
        </p:nvSpPr>
        <p:spPr>
          <a:xfrm>
            <a:off x="661475" y="5171182"/>
            <a:ext cx="5368195" cy="206673"/>
          </a:xfrm>
          <a:prstGeom prst="rect">
            <a:avLst/>
          </a:prstGeom>
          <a:noFill/>
          <a:ln/>
        </p:spPr>
        <p:txBody>
          <a:bodyPr wrap="none" lIns="0" tIns="0" rIns="0" bIns="0" rtlCol="0" anchor="t"/>
          <a:lstStyle/>
          <a:p>
            <a:pPr algn="ctr" indent="0" marL="0">
              <a:lnSpc>
                <a:spcPct val="104000"/>
              </a:lnSpc>
              <a:buNone/>
            </a:pPr>
            <a:r>
              <a:rPr lang="en-US" sz="1300" dirty="0">
                <a:solidFill>
                  <a:srgbClr val="2A2742"/>
                </a:solidFill>
                <a:latin typeface="Outfit ExtraBold" pitchFamily="34" charset="0"/>
                <a:ea typeface="Outfit ExtraBold" pitchFamily="34" charset="-122"/>
                <a:cs typeface="Outfit ExtraBold" pitchFamily="34" charset="-120"/>
              </a:rPr>
              <a:t>Total Products</a:t>
            </a:r>
            <a:endParaRPr lang="en-US" sz="1300" dirty="0"/>
          </a:p>
        </p:txBody>
      </p:sp>
      <p:sp>
        <p:nvSpPr>
          <p:cNvPr id="20" name="Text 18"/>
          <p:cNvSpPr/>
          <p:nvPr/>
        </p:nvSpPr>
        <p:spPr>
          <a:xfrm>
            <a:off x="661475" y="5441355"/>
            <a:ext cx="5368195" cy="190500"/>
          </a:xfrm>
          <a:prstGeom prst="rect">
            <a:avLst/>
          </a:prstGeom>
          <a:noFill/>
          <a:ln/>
        </p:spPr>
        <p:txBody>
          <a:bodyPr wrap="none" lIns="0" tIns="0" rIns="0" bIns="0" rtlCol="0" anchor="t"/>
          <a:lstStyle/>
          <a:p>
            <a:pPr algn="ctr" indent="0" marL="0">
              <a:lnSpc>
                <a:spcPct val="120000"/>
              </a:lnSpc>
              <a:buNone/>
            </a:pPr>
            <a:r>
              <a:rPr lang="en-US" sz="1000" dirty="0">
                <a:solidFill>
                  <a:srgbClr val="2E7D32"/>
                </a:solidFill>
                <a:latin typeface="Arimo" pitchFamily="34" charset="0"/>
                <a:ea typeface="Arimo" pitchFamily="34" charset="-122"/>
                <a:cs typeface="Arimo" pitchFamily="34" charset="-120"/>
              </a:rPr>
              <a:t>+39% YoY</a:t>
            </a:r>
            <a:pPr algn="ctr" indent="0" marL="0">
              <a:lnSpc>
                <a:spcPct val="120000"/>
              </a:lnSpc>
              <a:buNone/>
            </a:pPr>
            <a:r>
              <a:rPr lang="en-US" sz="1000" dirty="0">
                <a:solidFill>
                  <a:srgbClr val="2A2742"/>
                </a:solidFill>
                <a:latin typeface="Arimo" pitchFamily="34" charset="0"/>
                <a:ea typeface="Arimo" pitchFamily="34" charset="-122"/>
                <a:cs typeface="Arimo" pitchFamily="34" charset="-120"/>
              </a:rPr>
              <a:t> — outpacing member growth (ecosystem depth signal)</a:t>
            </a:r>
            <a:endParaRPr lang="en-US" sz="1000" dirty="0"/>
          </a:p>
        </p:txBody>
      </p:sp>
      <p:sp>
        <p:nvSpPr>
          <p:cNvPr id="21" name="Text 19"/>
          <p:cNvSpPr/>
          <p:nvPr/>
        </p:nvSpPr>
        <p:spPr>
          <a:xfrm>
            <a:off x="6698785" y="4589066"/>
            <a:ext cx="4294576" cy="436662"/>
          </a:xfrm>
          <a:prstGeom prst="rect">
            <a:avLst/>
          </a:prstGeom>
          <a:noFill/>
          <a:ln/>
        </p:spPr>
        <p:txBody>
          <a:bodyPr wrap="none" lIns="0" tIns="0" rIns="0" bIns="0" rtlCol="0" anchor="t"/>
          <a:lstStyle/>
          <a:p>
            <a:pPr algn="ctr" indent="0" marL="0">
              <a:lnSpc>
                <a:spcPct val="83000"/>
              </a:lnSpc>
              <a:buNone/>
            </a:pPr>
            <a:r>
              <a:rPr lang="en-US" sz="3400" dirty="0">
                <a:solidFill>
                  <a:srgbClr val="2A2742"/>
                </a:solidFill>
                <a:latin typeface="Outfit ExtraBold" pitchFamily="34" charset="0"/>
                <a:ea typeface="Outfit ExtraBold" pitchFamily="34" charset="-122"/>
                <a:cs typeface="Outfit ExtraBold" pitchFamily="34" charset="-120"/>
              </a:rPr>
              <a:t>$12.18B</a:t>
            </a:r>
            <a:endParaRPr lang="en-US" sz="3400" dirty="0"/>
          </a:p>
        </p:txBody>
      </p:sp>
      <p:sp>
        <p:nvSpPr>
          <p:cNvPr id="22" name="Text 20"/>
          <p:cNvSpPr/>
          <p:nvPr/>
        </p:nvSpPr>
        <p:spPr>
          <a:xfrm>
            <a:off x="6161926" y="5171182"/>
            <a:ext cx="5368295" cy="206673"/>
          </a:xfrm>
          <a:prstGeom prst="rect">
            <a:avLst/>
          </a:prstGeom>
          <a:noFill/>
          <a:ln/>
        </p:spPr>
        <p:txBody>
          <a:bodyPr wrap="none" lIns="0" tIns="0" rIns="0" bIns="0" rtlCol="0" anchor="t"/>
          <a:lstStyle/>
          <a:p>
            <a:pPr algn="ctr" indent="0" marL="0">
              <a:lnSpc>
                <a:spcPct val="104000"/>
              </a:lnSpc>
              <a:buNone/>
            </a:pPr>
            <a:r>
              <a:rPr lang="en-US" sz="1300" dirty="0">
                <a:solidFill>
                  <a:srgbClr val="2A2742"/>
                </a:solidFill>
                <a:latin typeface="Outfit ExtraBold" pitchFamily="34" charset="0"/>
                <a:ea typeface="Outfit ExtraBold" pitchFamily="34" charset="-122"/>
                <a:cs typeface="Outfit ExtraBold" pitchFamily="34" charset="-120"/>
              </a:rPr>
              <a:t>Loan Originations</a:t>
            </a:r>
            <a:endParaRPr lang="en-US" sz="1300" dirty="0"/>
          </a:p>
        </p:txBody>
      </p:sp>
      <p:sp>
        <p:nvSpPr>
          <p:cNvPr id="23" name="Text 21"/>
          <p:cNvSpPr/>
          <p:nvPr/>
        </p:nvSpPr>
        <p:spPr>
          <a:xfrm>
            <a:off x="6161926" y="5441355"/>
            <a:ext cx="5368295" cy="190500"/>
          </a:xfrm>
          <a:prstGeom prst="rect">
            <a:avLst/>
          </a:prstGeom>
          <a:noFill/>
          <a:ln/>
        </p:spPr>
        <p:txBody>
          <a:bodyPr wrap="none" lIns="0" tIns="0" rIns="0" bIns="0" rtlCol="0" anchor="t"/>
          <a:lstStyle/>
          <a:p>
            <a:pPr algn="ctr" indent="0" marL="0">
              <a:lnSpc>
                <a:spcPct val="120000"/>
              </a:lnSpc>
              <a:buNone/>
            </a:pPr>
            <a:r>
              <a:rPr lang="en-US" sz="1000" dirty="0">
                <a:solidFill>
                  <a:srgbClr val="2A2742"/>
                </a:solidFill>
                <a:latin typeface="Arimo" pitchFamily="34" charset="0"/>
                <a:ea typeface="Arimo" pitchFamily="34" charset="-122"/>
                <a:cs typeface="Arimo" pitchFamily="34" charset="-120"/>
              </a:rPr>
              <a:t>Record loan originations, reflecting strong lending activity</a:t>
            </a:r>
            <a:endParaRPr lang="en-US" sz="1000" dirty="0"/>
          </a:p>
        </p:txBody>
      </p:sp>
      <p:sp>
        <p:nvSpPr>
          <p:cNvPr id="24" name="Shape 22"/>
          <p:cNvSpPr/>
          <p:nvPr/>
        </p:nvSpPr>
        <p:spPr>
          <a:xfrm>
            <a:off x="661475" y="5750917"/>
            <a:ext cx="10868745" cy="457597"/>
          </a:xfrm>
          <a:prstGeom prst="roundRect">
            <a:avLst>
              <a:gd name="adj" fmla="val 12144"/>
            </a:avLst>
          </a:prstGeom>
          <a:solidFill>
            <a:srgbClr val="B6FCB8"/>
          </a:solidFill>
          <a:ln/>
        </p:spPr>
      </p:sp>
      <p:pic>
        <p:nvPicPr>
          <p:cNvPr id="25" name="Image 0" descr="preencoded.png">    </p:cNvPr>
          <p:cNvPicPr>
            <a:picLocks noChangeAspect="1"/>
          </p:cNvPicPr>
          <p:nvPr/>
        </p:nvPicPr>
        <p:blipFill>
          <a:blip r:embed="rId1"/>
          <a:stretch>
            <a:fillRect/>
          </a:stretch>
        </p:blipFill>
        <p:spPr>
          <a:xfrm>
            <a:off x="793730" y="5907286"/>
            <a:ext cx="165294" cy="132259"/>
          </a:xfrm>
          <a:prstGeom prst="rect">
            <a:avLst/>
          </a:prstGeom>
        </p:spPr>
      </p:pic>
      <p:sp>
        <p:nvSpPr>
          <p:cNvPr id="26" name="Text 23"/>
          <p:cNvSpPr/>
          <p:nvPr/>
        </p:nvSpPr>
        <p:spPr>
          <a:xfrm>
            <a:off x="1091280" y="5889724"/>
            <a:ext cx="10916270" cy="190500"/>
          </a:xfrm>
          <a:prstGeom prst="rect">
            <a:avLst/>
          </a:prstGeom>
          <a:noFill/>
          <a:ln/>
        </p:spPr>
        <p:txBody>
          <a:bodyPr wrap="none" lIns="0" tIns="0" rIns="0" bIns="0" rtlCol="0" anchor="t"/>
          <a:lstStyle/>
          <a:p>
            <a:pPr algn="l" indent="0" marL="0">
              <a:lnSpc>
                <a:spcPct val="120000"/>
              </a:lnSpc>
              <a:buNone/>
            </a:pPr>
            <a:r>
              <a:rPr lang="en-US" sz="1000" dirty="0">
                <a:solidFill>
                  <a:srgbClr val="000000"/>
                </a:solidFill>
                <a:latin typeface="Arimo" pitchFamily="34" charset="0"/>
                <a:ea typeface="Arimo" pitchFamily="34" charset="-122"/>
                <a:cs typeface="Arimo" pitchFamily="34" charset="-120"/>
              </a:rPr>
              <a:t>Net income growth materially outpaced revenue growth, indicating a significant improvement in reported profitability during Q1 2026.</a:t>
            </a:r>
            <a:endParaRPr lang="en-US" sz="1000" dirty="0"/>
          </a:p>
        </p:txBody>
      </p:sp>
      <p:pic>
        <p:nvPicPr>
          <p:cNvPr id="27" name="Image 1" descr="preencoded.png">    </p:cNvPr>
          <p:cNvPicPr>
            <a:picLocks noChangeAspect="1"/>
          </p:cNvPicPr>
          <p:nvPr/>
        </p:nvPicPr>
        <p:blipFill>
          <a:blip r:embed="rId2"/>
          <a:stretch>
            <a:fillRect/>
          </a:stretch>
        </p:blipFill>
        <p:spPr>
          <a:xfrm>
            <a:off x="115686" y="130473"/>
            <a:ext cx="575752" cy="3013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99281"/>
            <a:ext cx="875881" cy="152995"/>
          </a:xfrm>
          <a:prstGeom prst="roundRect">
            <a:avLst>
              <a:gd name="adj" fmla="val 22134"/>
            </a:avLst>
          </a:prstGeom>
          <a:solidFill>
            <a:srgbClr val="CCF6FF"/>
          </a:solidFill>
          <a:ln/>
        </p:spPr>
      </p:sp>
      <p:sp>
        <p:nvSpPr>
          <p:cNvPr id="3" name="Text 1"/>
          <p:cNvSpPr/>
          <p:nvPr/>
        </p:nvSpPr>
        <p:spPr>
          <a:xfrm>
            <a:off x="721898" y="629444"/>
            <a:ext cx="1364621" cy="92670"/>
          </a:xfrm>
          <a:prstGeom prst="rect">
            <a:avLst/>
          </a:prstGeom>
          <a:noFill/>
          <a:ln/>
        </p:spPr>
        <p:txBody>
          <a:bodyPr wrap="none" lIns="0" tIns="0" rIns="0" bIns="0" rtlCol="0" anchor="t"/>
          <a:lstStyle/>
          <a:p>
            <a:pPr algn="l" indent="0" marL="0">
              <a:lnSpc>
                <a:spcPct val="96000"/>
              </a:lnSpc>
              <a:buNone/>
            </a:pPr>
            <a:r>
              <a:rPr lang="en-US" sz="600" dirty="0">
                <a:solidFill>
                  <a:srgbClr val="2A2742"/>
                </a:solidFill>
                <a:latin typeface="Arimo" pitchFamily="34" charset="0"/>
                <a:ea typeface="Arimo" pitchFamily="34" charset="-122"/>
                <a:cs typeface="Arimo" pitchFamily="34" charset="-120"/>
              </a:rPr>
              <a:t>CUSTOMER DEPTH</a:t>
            </a:r>
            <a:endParaRPr lang="en-US" sz="600" dirty="0"/>
          </a:p>
        </p:txBody>
      </p:sp>
      <p:sp>
        <p:nvSpPr>
          <p:cNvPr id="4" name="Text 2"/>
          <p:cNvSpPr/>
          <p:nvPr/>
        </p:nvSpPr>
        <p:spPr>
          <a:xfrm>
            <a:off x="661475" y="776784"/>
            <a:ext cx="10868745" cy="315020"/>
          </a:xfrm>
          <a:prstGeom prst="rect">
            <a:avLst/>
          </a:prstGeom>
          <a:noFill/>
          <a:ln/>
        </p:spPr>
        <p:txBody>
          <a:bodyPr wrap="none" lIns="0" tIns="0" rIns="0" bIns="0" rtlCol="0" anchor="t"/>
          <a:lstStyle/>
          <a:p>
            <a:pPr algn="l" indent="0" marL="0">
              <a:lnSpc>
                <a:spcPct val="104000"/>
              </a:lnSpc>
              <a:buNone/>
            </a:pPr>
            <a:r>
              <a:rPr lang="en-US" sz="1950" dirty="0">
                <a:solidFill>
                  <a:srgbClr val="231971"/>
                </a:solidFill>
                <a:latin typeface="Outfit ExtraBold" pitchFamily="34" charset="0"/>
                <a:ea typeface="Outfit ExtraBold" pitchFamily="34" charset="-122"/>
                <a:cs typeface="Outfit ExtraBold" pitchFamily="34" charset="-120"/>
              </a:rPr>
              <a:t>Customer growth is translating into deeper ecosystem engagement</a:t>
            </a:r>
            <a:endParaRPr lang="en-US" sz="1950" dirty="0"/>
          </a:p>
        </p:txBody>
      </p:sp>
      <p:sp>
        <p:nvSpPr>
          <p:cNvPr id="5" name="Shape 3"/>
          <p:cNvSpPr/>
          <p:nvPr/>
        </p:nvSpPr>
        <p:spPr>
          <a:xfrm>
            <a:off x="588849" y="1183878"/>
            <a:ext cx="4900887" cy="1484313"/>
          </a:xfrm>
          <a:prstGeom prst="roundRect">
            <a:avLst>
              <a:gd name="adj" fmla="val 4889"/>
            </a:avLst>
          </a:prstGeom>
          <a:solidFill>
            <a:srgbClr val="231971">
              <a:alpha val="95000"/>
            </a:srgbClr>
          </a:solidFill>
          <a:ln/>
        </p:spPr>
      </p:sp>
      <p:sp>
        <p:nvSpPr>
          <p:cNvPr id="6" name="Text 4"/>
          <p:cNvSpPr/>
          <p:nvPr/>
        </p:nvSpPr>
        <p:spPr>
          <a:xfrm>
            <a:off x="689553" y="1245295"/>
            <a:ext cx="4699478" cy="157460"/>
          </a:xfrm>
          <a:prstGeom prst="rect">
            <a:avLst/>
          </a:prstGeom>
          <a:noFill/>
          <a:ln/>
        </p:spPr>
        <p:txBody>
          <a:bodyPr wrap="none" lIns="0" tIns="0" rIns="0" bIns="0" rtlCol="0" anchor="t"/>
          <a:lstStyle/>
          <a:p>
            <a:pPr algn="l" indent="0" marL="0">
              <a:lnSpc>
                <a:spcPct val="104000"/>
              </a:lnSpc>
              <a:buNone/>
            </a:pPr>
            <a:r>
              <a:rPr lang="en-US" sz="950" dirty="0">
                <a:solidFill>
                  <a:srgbClr val="FFFFFF"/>
                </a:solidFill>
                <a:latin typeface="Outfit ExtraBold" pitchFamily="34" charset="0"/>
                <a:ea typeface="Outfit ExtraBold" pitchFamily="34" charset="-122"/>
                <a:cs typeface="Outfit ExtraBold" pitchFamily="34" charset="-120"/>
              </a:rPr>
              <a:t>Key Engagement Metrics — Q1 2026</a:t>
            </a:r>
            <a:endParaRPr lang="en-US" sz="950" dirty="0"/>
          </a:p>
        </p:txBody>
      </p:sp>
      <p:sp>
        <p:nvSpPr>
          <p:cNvPr id="7" name="Text 5"/>
          <p:cNvSpPr/>
          <p:nvPr/>
        </p:nvSpPr>
        <p:spPr>
          <a:xfrm>
            <a:off x="689553" y="1464171"/>
            <a:ext cx="4699478" cy="1148755"/>
          </a:xfrm>
          <a:prstGeom prst="rect">
            <a:avLst/>
          </a:prstGeom>
          <a:noFill/>
          <a:ln/>
        </p:spPr>
        <p:txBody>
          <a:bodyPr wrap="square" lIns="0" tIns="0" rIns="0" bIns="0" rtlCol="0" anchor="t">
            <a:normAutofit/>
          </a:bodyPr>
          <a:lstStyle/>
          <a:p>
            <a:pPr algn="l" indent="0" marL="0">
              <a:lnSpc>
                <a:spcPct val="107000"/>
              </a:lnSpc>
              <a:buNone/>
            </a:pPr>
            <a:r>
              <a:rPr lang="en-US" sz="750" b="1" dirty="0">
                <a:solidFill>
                  <a:srgbClr val="FFFFFF"/>
                </a:solidFill>
                <a:latin typeface="Arimo Bold" pitchFamily="34" charset="0"/>
                <a:ea typeface="Arimo Bold" pitchFamily="34" charset="-122"/>
                <a:cs typeface="Arimo Bold" pitchFamily="34" charset="-120"/>
              </a:rPr>
              <a:t>Products per Member: 1.51</a:t>
            </a:r>
            <a:endParaRPr lang="en-US" sz="750" dirty="0"/>
          </a:p>
          <a:p>
            <a:pPr algn="l" indent="0" marL="0">
              <a:lnSpc>
                <a:spcPct val="107000"/>
              </a:lnSpc>
              <a:spcAft>
                <a:spcPts val="400"/>
              </a:spcAft>
              <a:buNone/>
            </a:pPr>
            <a:r>
              <a:rPr lang="en-US" sz="750" dirty="0">
                <a:solidFill>
                  <a:srgbClr val="FFFFFF"/>
                </a:solidFill>
                <a:latin typeface="Arimo" pitchFamily="34" charset="0"/>
                <a:ea typeface="Arimo" pitchFamily="34" charset="-122"/>
                <a:cs typeface="Arimo" pitchFamily="34" charset="-120"/>
              </a:rPr>
              <a:t>Up from 1.46 in Q1 2025 — consistent improvement in ecosystem penetration</a:t>
            </a:r>
            <a:endParaRPr lang="en-US" sz="750" dirty="0"/>
          </a:p>
          <a:p>
            <a:pPr algn="l" indent="0" marL="0">
              <a:lnSpc>
                <a:spcPct val="107000"/>
              </a:lnSpc>
              <a:buNone/>
            </a:pPr>
            <a:r>
              <a:rPr lang="en-US" sz="750" b="1" dirty="0">
                <a:solidFill>
                  <a:srgbClr val="FFFFFF"/>
                </a:solidFill>
                <a:latin typeface="Arimo Bold" pitchFamily="34" charset="0"/>
                <a:ea typeface="Arimo Bold" pitchFamily="34" charset="-122"/>
                <a:cs typeface="Arimo Bold" pitchFamily="34" charset="-120"/>
              </a:rPr>
              <a:t>Cross-Buy Rate: 43%</a:t>
            </a:r>
            <a:endParaRPr lang="en-US" sz="750" dirty="0"/>
          </a:p>
          <a:p>
            <a:pPr algn="l" indent="0" marL="0">
              <a:lnSpc>
                <a:spcPct val="107000"/>
              </a:lnSpc>
              <a:spcAft>
                <a:spcPts val="400"/>
              </a:spcAft>
              <a:buNone/>
            </a:pPr>
            <a:r>
              <a:rPr lang="en-US" sz="750" dirty="0">
                <a:solidFill>
                  <a:srgbClr val="FFFFFF"/>
                </a:solidFill>
                <a:latin typeface="Arimo" pitchFamily="34" charset="0"/>
                <a:ea typeface="Arimo" pitchFamily="34" charset="-122"/>
                <a:cs typeface="Arimo" pitchFamily="34" charset="-120"/>
              </a:rPr>
              <a:t>43% of new products purchased by existing members — a signal of existing-member product adoption and ecosystem depth</a:t>
            </a:r>
            <a:endParaRPr lang="en-US" sz="750" dirty="0"/>
          </a:p>
          <a:p>
            <a:pPr algn="l" indent="0" marL="0">
              <a:lnSpc>
                <a:spcPct val="107000"/>
              </a:lnSpc>
              <a:buNone/>
            </a:pPr>
            <a:r>
              <a:rPr lang="en-US" sz="750" b="1" dirty="0">
                <a:solidFill>
                  <a:srgbClr val="FFFFFF"/>
                </a:solidFill>
                <a:latin typeface="Arimo Bold" pitchFamily="34" charset="0"/>
                <a:ea typeface="Arimo Bold" pitchFamily="34" charset="-122"/>
                <a:cs typeface="Arimo Bold" pitchFamily="34" charset="-120"/>
              </a:rPr>
              <a:t>Products Growth vs. Member Growth:</a:t>
            </a:r>
            <a:endParaRPr lang="en-US" sz="750" dirty="0"/>
          </a:p>
          <a:p>
            <a:pPr algn="l" indent="0" marL="0">
              <a:lnSpc>
                <a:spcPct val="107000"/>
              </a:lnSpc>
              <a:buNone/>
            </a:pPr>
            <a:r>
              <a:rPr lang="en-US" sz="750" dirty="0">
                <a:solidFill>
                  <a:srgbClr val="FFFFFF"/>
                </a:solidFill>
                <a:latin typeface="Arimo" pitchFamily="34" charset="0"/>
                <a:ea typeface="Arimo" pitchFamily="34" charset="-122"/>
                <a:cs typeface="Arimo" pitchFamily="34" charset="-120"/>
              </a:rPr>
              <a:t>Products +39% YoY vs. Members +35% YoY — a 4-point spread indicating stronger ecosystem depth per member cohort</a:t>
            </a:r>
            <a:endParaRPr lang="en-US" sz="750" dirty="0"/>
          </a:p>
        </p:txBody>
      </p:sp>
      <p:sp>
        <p:nvSpPr>
          <p:cNvPr id="8" name="Shape 6"/>
          <p:cNvSpPr/>
          <p:nvPr/>
        </p:nvSpPr>
        <p:spPr>
          <a:xfrm>
            <a:off x="5596690" y="1183878"/>
            <a:ext cx="6012407" cy="1484313"/>
          </a:xfrm>
          <a:prstGeom prst="roundRect">
            <a:avLst>
              <a:gd name="adj" fmla="val 4889"/>
            </a:avLst>
          </a:prstGeom>
          <a:solidFill>
            <a:srgbClr val="FAFAFA">
              <a:alpha val="95000"/>
            </a:srgbClr>
          </a:solidFill>
          <a:ln/>
        </p:spPr>
      </p:sp>
      <p:sp>
        <p:nvSpPr>
          <p:cNvPr id="9" name="Text 7"/>
          <p:cNvSpPr/>
          <p:nvPr/>
        </p:nvSpPr>
        <p:spPr>
          <a:xfrm>
            <a:off x="5697395" y="1245295"/>
            <a:ext cx="5810998" cy="157460"/>
          </a:xfrm>
          <a:prstGeom prst="rect">
            <a:avLst/>
          </a:prstGeom>
          <a:noFill/>
          <a:ln/>
        </p:spPr>
        <p:txBody>
          <a:bodyPr wrap="none" lIns="0" tIns="0" rIns="0" bIns="0" rtlCol="0" anchor="t"/>
          <a:lstStyle/>
          <a:p>
            <a:pPr algn="l" indent="0" marL="0">
              <a:lnSpc>
                <a:spcPct val="104000"/>
              </a:lnSpc>
              <a:buNone/>
            </a:pPr>
            <a:r>
              <a:rPr lang="en-US" sz="950" dirty="0">
                <a:solidFill>
                  <a:srgbClr val="231971"/>
                </a:solidFill>
                <a:latin typeface="Outfit ExtraBold" pitchFamily="34" charset="0"/>
                <a:ea typeface="Outfit ExtraBold" pitchFamily="34" charset="-122"/>
                <a:cs typeface="Outfit ExtraBold" pitchFamily="34" charset="-120"/>
              </a:rPr>
              <a:t>Analytical Interpretation</a:t>
            </a:r>
            <a:endParaRPr lang="en-US" sz="950" dirty="0"/>
          </a:p>
        </p:txBody>
      </p:sp>
      <p:sp>
        <p:nvSpPr>
          <p:cNvPr id="10" name="Text 8"/>
          <p:cNvSpPr/>
          <p:nvPr/>
        </p:nvSpPr>
        <p:spPr>
          <a:xfrm>
            <a:off x="5697395" y="1464171"/>
            <a:ext cx="5810998" cy="444599"/>
          </a:xfrm>
          <a:prstGeom prst="rect">
            <a:avLst/>
          </a:prstGeom>
          <a:noFill/>
          <a:ln/>
        </p:spPr>
        <p:txBody>
          <a:bodyPr wrap="square" lIns="0" tIns="0" rIns="0" bIns="0" rtlCol="0" anchor="t">
            <a:normAutofit/>
          </a:bodyPr>
          <a:lstStyle/>
          <a:p>
            <a:pPr algn="l" indent="0" marL="0">
              <a:lnSpc>
                <a:spcPct val="107000"/>
              </a:lnSpc>
              <a:spcAft>
                <a:spcPts val="400"/>
              </a:spcAft>
              <a:buNone/>
            </a:pPr>
            <a:r>
              <a:rPr lang="en-US" sz="750" dirty="0">
                <a:solidFill>
                  <a:srgbClr val="2A2742"/>
                </a:solidFill>
                <a:latin typeface="Arimo" pitchFamily="34" charset="0"/>
                <a:ea typeface="Arimo" pitchFamily="34" charset="-122"/>
                <a:cs typeface="Arimo" pitchFamily="34" charset="-120"/>
              </a:rPr>
              <a:t>Products grew 39% YoY versus 35% member growth, lifting products per member from 1.46 to 1.51. This indicates that product adoption is growing faster than the member base and supports the assessment of improving customer depth.</a:t>
            </a:r>
            <a:endParaRPr lang="en-US" sz="750" dirty="0"/>
          </a:p>
          <a:p>
            <a:pPr algn="l" indent="0" marL="0">
              <a:lnSpc>
                <a:spcPct val="107000"/>
              </a:lnSpc>
              <a:buNone/>
            </a:pPr>
            <a:r>
              <a:rPr lang="en-US" sz="750" dirty="0">
                <a:solidFill>
                  <a:srgbClr val="2A2742"/>
                </a:solidFill>
                <a:latin typeface="Arimo" pitchFamily="34" charset="0"/>
                <a:ea typeface="Arimo" pitchFamily="34" charset="-122"/>
                <a:cs typeface="Arimo" pitchFamily="34" charset="-120"/>
              </a:rPr>
              <a:t>A cross-buy rate of 43% means that nearly half of all new product adoption is driven by the existing member base. </a:t>
            </a:r>
            <a:endParaRPr lang="en-US" sz="750" dirty="0"/>
          </a:p>
        </p:txBody>
      </p:sp>
      <p:sp>
        <p:nvSpPr>
          <p:cNvPr id="11" name="Shape 9"/>
          <p:cNvSpPr/>
          <p:nvPr/>
        </p:nvSpPr>
        <p:spPr>
          <a:xfrm>
            <a:off x="5697395" y="1977827"/>
            <a:ext cx="5810998" cy="290512"/>
          </a:xfrm>
          <a:prstGeom prst="roundRect">
            <a:avLst>
              <a:gd name="adj" fmla="val 14571"/>
            </a:avLst>
          </a:prstGeom>
          <a:solidFill>
            <a:srgbClr val="CCF6FF"/>
          </a:solidFill>
          <a:ln/>
        </p:spPr>
      </p:sp>
      <p:pic>
        <p:nvPicPr>
          <p:cNvPr id="12" name="Image 0" descr="preencoded.png">    </p:cNvPr>
          <p:cNvPicPr>
            <a:picLocks noChangeAspect="1"/>
          </p:cNvPicPr>
          <p:nvPr/>
        </p:nvPicPr>
        <p:blipFill>
          <a:blip r:embed="rId1"/>
          <a:stretch>
            <a:fillRect/>
          </a:stretch>
        </p:blipFill>
        <p:spPr>
          <a:xfrm>
            <a:off x="5798099" y="2071390"/>
            <a:ext cx="125905" cy="100707"/>
          </a:xfrm>
          <a:prstGeom prst="rect">
            <a:avLst/>
          </a:prstGeom>
        </p:spPr>
      </p:pic>
      <p:sp>
        <p:nvSpPr>
          <p:cNvPr id="13" name="Text 10"/>
          <p:cNvSpPr/>
          <p:nvPr/>
        </p:nvSpPr>
        <p:spPr>
          <a:xfrm>
            <a:off x="6024709" y="2058194"/>
            <a:ext cx="5992563" cy="129778"/>
          </a:xfrm>
          <a:prstGeom prst="rect">
            <a:avLst/>
          </a:prstGeom>
          <a:noFill/>
          <a:ln/>
        </p:spPr>
        <p:txBody>
          <a:bodyPr wrap="none" lIns="0" tIns="0" rIns="0" bIns="0" rtlCol="0" anchor="t"/>
          <a:lstStyle/>
          <a:p>
            <a:pPr algn="l" indent="0" marL="0">
              <a:lnSpc>
                <a:spcPct val="107000"/>
              </a:lnSpc>
              <a:buNone/>
            </a:pPr>
            <a:r>
              <a:rPr lang="en-US" sz="750" dirty="0">
                <a:solidFill>
                  <a:srgbClr val="000000"/>
                </a:solidFill>
                <a:latin typeface="Arimo" pitchFamily="34" charset="0"/>
                <a:ea typeface="Arimo" pitchFamily="34" charset="-122"/>
                <a:cs typeface="Arimo" pitchFamily="34" charset="-120"/>
              </a:rPr>
              <a:t>Products per member increased from 1.46 to 1.51, indicating deeper product engagement across the member base.</a:t>
            </a:r>
            <a:endParaRPr lang="en-US" sz="750" dirty="0"/>
          </a:p>
        </p:txBody>
      </p:sp>
      <p:sp>
        <p:nvSpPr>
          <p:cNvPr id="14" name="Text 11"/>
          <p:cNvSpPr/>
          <p:nvPr/>
        </p:nvSpPr>
        <p:spPr>
          <a:xfrm>
            <a:off x="661475" y="2760266"/>
            <a:ext cx="10868745" cy="157460"/>
          </a:xfrm>
          <a:prstGeom prst="rect">
            <a:avLst/>
          </a:prstGeom>
          <a:noFill/>
          <a:ln/>
        </p:spPr>
        <p:txBody>
          <a:bodyPr wrap="none" lIns="0" tIns="0" rIns="0" bIns="0" rtlCol="0" anchor="t"/>
          <a:lstStyle/>
          <a:p>
            <a:pPr algn="l" indent="0" marL="0">
              <a:lnSpc>
                <a:spcPct val="104000"/>
              </a:lnSpc>
              <a:buNone/>
            </a:pPr>
            <a:r>
              <a:rPr lang="en-US" sz="950" dirty="0">
                <a:solidFill>
                  <a:srgbClr val="231971"/>
                </a:solidFill>
                <a:latin typeface="Outfit ExtraBold" pitchFamily="34" charset="0"/>
                <a:ea typeface="Outfit ExtraBold" pitchFamily="34" charset="-122"/>
                <a:cs typeface="Outfit ExtraBold" pitchFamily="34" charset="-120"/>
              </a:rPr>
              <a:t>Member vs Product Growth — Q1 2026</a:t>
            </a:r>
            <a:endParaRPr lang="en-US" sz="950" dirty="0"/>
          </a:p>
        </p:txBody>
      </p:sp>
      <p:pic>
        <p:nvPicPr>
          <p:cNvPr id="15" name="Image 1" descr="preencoded.png">    </p:cNvPr>
          <p:cNvPicPr>
            <a:picLocks noChangeAspect="1"/>
          </p:cNvPicPr>
          <p:nvPr/>
        </p:nvPicPr>
        <p:blipFill>
          <a:blip r:embed="rId2"/>
          <a:stretch>
            <a:fillRect/>
          </a:stretch>
        </p:blipFill>
        <p:spPr>
          <a:xfrm>
            <a:off x="661475" y="3009801"/>
            <a:ext cx="6760993" cy="3356372"/>
          </a:xfrm>
          <a:prstGeom prst="rect">
            <a:avLst/>
          </a:prstGeom>
        </p:spPr>
      </p:pic>
      <p:pic>
        <p:nvPicPr>
          <p:cNvPr id="16" name="Image 2" descr="preencoded.png">    </p:cNvPr>
          <p:cNvPicPr>
            <a:picLocks noChangeAspect="1"/>
          </p:cNvPicPr>
          <p:nvPr/>
        </p:nvPicPr>
        <p:blipFill>
          <a:blip r:embed="rId3"/>
          <a:stretch>
            <a:fillRect/>
          </a:stretch>
        </p:blipFill>
        <p:spPr>
          <a:xfrm>
            <a:off x="115686" y="130473"/>
            <a:ext cx="575752" cy="3013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73695"/>
            <a:ext cx="1796807" cy="213717"/>
          </a:xfrm>
          <a:prstGeom prst="roundRect">
            <a:avLst>
              <a:gd name="adj" fmla="val 22102"/>
            </a:avLst>
          </a:prstGeom>
          <a:solidFill>
            <a:srgbClr val="CCF6FF"/>
          </a:solidFill>
          <a:ln/>
        </p:spPr>
      </p:sp>
      <p:sp>
        <p:nvSpPr>
          <p:cNvPr id="3" name="Text 1"/>
          <p:cNvSpPr/>
          <p:nvPr/>
        </p:nvSpPr>
        <p:spPr>
          <a:xfrm>
            <a:off x="745809" y="715863"/>
            <a:ext cx="2237724" cy="129381"/>
          </a:xfrm>
          <a:prstGeom prst="rect">
            <a:avLst/>
          </a:prstGeom>
          <a:noFill/>
          <a:ln/>
        </p:spPr>
        <p:txBody>
          <a:bodyPr wrap="none" lIns="0" tIns="0" rIns="0" bIns="0" rtlCol="0" anchor="t"/>
          <a:lstStyle/>
          <a:p>
            <a:pPr algn="l" indent="0" marL="0">
              <a:lnSpc>
                <a:spcPct val="96000"/>
              </a:lnSpc>
              <a:buNone/>
            </a:pPr>
            <a:r>
              <a:rPr lang="en-US" sz="850" dirty="0">
                <a:solidFill>
                  <a:srgbClr val="2A2742"/>
                </a:solidFill>
                <a:latin typeface="Arimo" pitchFamily="34" charset="0"/>
                <a:ea typeface="Arimo" pitchFamily="34" charset="-122"/>
                <a:cs typeface="Arimo" pitchFamily="34" charset="-120"/>
              </a:rPr>
              <a:t>LENDING, CREDIT &amp; FUNDING</a:t>
            </a:r>
            <a:endParaRPr lang="en-US" sz="850" dirty="0"/>
          </a:p>
        </p:txBody>
      </p:sp>
      <p:sp>
        <p:nvSpPr>
          <p:cNvPr id="4" name="Text 2"/>
          <p:cNvSpPr/>
          <p:nvPr/>
        </p:nvSpPr>
        <p:spPr>
          <a:xfrm>
            <a:off x="661475" y="935137"/>
            <a:ext cx="10868745" cy="878483"/>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231971"/>
                </a:solidFill>
                <a:latin typeface="Outfit ExtraBold" pitchFamily="34" charset="0"/>
                <a:ea typeface="Outfit ExtraBold" pitchFamily="34" charset="-122"/>
                <a:cs typeface="Outfit ExtraBold" pitchFamily="34" charset="-120"/>
              </a:rPr>
              <a:t>The lending engine remains strong, while funding and credit require monitoring</a:t>
            </a:r>
            <a:endParaRPr lang="en-US" sz="2750" dirty="0"/>
          </a:p>
        </p:txBody>
      </p:sp>
      <p:sp>
        <p:nvSpPr>
          <p:cNvPr id="5" name="Text 3"/>
          <p:cNvSpPr/>
          <p:nvPr/>
        </p:nvSpPr>
        <p:spPr>
          <a:xfrm>
            <a:off x="661475" y="2112268"/>
            <a:ext cx="5262927" cy="219571"/>
          </a:xfrm>
          <a:prstGeom prst="rect">
            <a:avLst/>
          </a:prstGeom>
          <a:noFill/>
          <a:ln/>
        </p:spPr>
        <p:txBody>
          <a:bodyPr wrap="none" lIns="0" tIns="0" rIns="0" bIns="0" rtlCol="0" anchor="t"/>
          <a:lstStyle/>
          <a:p>
            <a:pPr algn="l" indent="0" marL="0">
              <a:lnSpc>
                <a:spcPct val="104000"/>
              </a:lnSpc>
              <a:buNone/>
            </a:pPr>
            <a:r>
              <a:rPr lang="en-US" sz="1350" dirty="0">
                <a:solidFill>
                  <a:srgbClr val="231971"/>
                </a:solidFill>
                <a:latin typeface="Outfit ExtraBold" pitchFamily="34" charset="0"/>
                <a:ea typeface="Outfit ExtraBold" pitchFamily="34" charset="-122"/>
                <a:cs typeface="Outfit ExtraBold" pitchFamily="34" charset="-120"/>
              </a:rPr>
              <a:t>Lending &amp; Funding Snapshot</a:t>
            </a:r>
            <a:endParaRPr lang="en-US" sz="1350" dirty="0"/>
          </a:p>
        </p:txBody>
      </p:sp>
      <p:sp>
        <p:nvSpPr>
          <p:cNvPr id="6" name="Shape 4"/>
          <p:cNvSpPr/>
          <p:nvPr/>
        </p:nvSpPr>
        <p:spPr>
          <a:xfrm>
            <a:off x="661475" y="2571552"/>
            <a:ext cx="5262927" cy="19050"/>
          </a:xfrm>
          <a:prstGeom prst="roundRect">
            <a:avLst>
              <a:gd name="adj" fmla="val 49999"/>
            </a:avLst>
          </a:prstGeom>
          <a:solidFill>
            <a:srgbClr val="B2DCE5"/>
          </a:solidFill>
          <a:ln/>
        </p:spPr>
      </p:sp>
      <p:sp>
        <p:nvSpPr>
          <p:cNvPr id="7" name="Shape 5"/>
          <p:cNvSpPr/>
          <p:nvPr/>
        </p:nvSpPr>
        <p:spPr>
          <a:xfrm>
            <a:off x="1253796" y="2571552"/>
            <a:ext cx="19050" cy="421680"/>
          </a:xfrm>
          <a:prstGeom prst="roundRect">
            <a:avLst>
              <a:gd name="adj" fmla="val 49999"/>
            </a:avLst>
          </a:prstGeom>
          <a:solidFill>
            <a:srgbClr val="B2DCE5"/>
          </a:solidFill>
          <a:ln/>
        </p:spPr>
      </p:sp>
      <p:sp>
        <p:nvSpPr>
          <p:cNvPr id="8" name="Shape 6"/>
          <p:cNvSpPr/>
          <p:nvPr/>
        </p:nvSpPr>
        <p:spPr>
          <a:xfrm>
            <a:off x="1210637" y="2518866"/>
            <a:ext cx="105368" cy="105370"/>
          </a:xfrm>
          <a:prstGeom prst="ellipse">
            <a:avLst/>
          </a:prstGeom>
          <a:solidFill>
            <a:srgbClr val="00B3D9"/>
          </a:solidFill>
          <a:ln/>
        </p:spPr>
      </p:sp>
      <p:sp>
        <p:nvSpPr>
          <p:cNvPr id="9" name="Shape 7"/>
          <p:cNvSpPr/>
          <p:nvPr/>
        </p:nvSpPr>
        <p:spPr>
          <a:xfrm>
            <a:off x="661475" y="2993330"/>
            <a:ext cx="1203692" cy="1487984"/>
          </a:xfrm>
          <a:prstGeom prst="roundRect">
            <a:avLst>
              <a:gd name="adj" fmla="val 4905"/>
            </a:avLst>
          </a:prstGeom>
          <a:solidFill>
            <a:srgbClr val="E3F8FD"/>
          </a:solidFill>
          <a:ln w="6350">
            <a:solidFill>
              <a:srgbClr val="B2DCE5"/>
            </a:solidFill>
            <a:prstDash val="solid"/>
          </a:ln>
        </p:spPr>
      </p:sp>
      <p:sp>
        <p:nvSpPr>
          <p:cNvPr id="10" name="Text 8"/>
          <p:cNvSpPr/>
          <p:nvPr/>
        </p:nvSpPr>
        <p:spPr>
          <a:xfrm>
            <a:off x="808315" y="3140174"/>
            <a:ext cx="910012" cy="658713"/>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$42.17B — Total Loans</a:t>
            </a:r>
            <a:endParaRPr lang="en-US" sz="1350" dirty="0"/>
          </a:p>
        </p:txBody>
      </p:sp>
      <p:sp>
        <p:nvSpPr>
          <p:cNvPr id="11" name="Text 9"/>
          <p:cNvSpPr/>
          <p:nvPr/>
        </p:nvSpPr>
        <p:spPr>
          <a:xfrm>
            <a:off x="808315" y="3918347"/>
            <a:ext cx="910012" cy="416123"/>
          </a:xfrm>
          <a:prstGeom prst="rect">
            <a:avLst/>
          </a:prstGeom>
          <a:noFill/>
          <a:ln/>
        </p:spPr>
        <p:txBody>
          <a:bodyPr wrap="square" lIns="0" tIns="0" rIns="0" bIns="0" rtlCol="0" anchor="t">
            <a:normAutofit/>
          </a:bodyPr>
          <a:lstStyle/>
          <a:p>
            <a:pPr algn="ctr" indent="0" marL="0">
              <a:lnSpc>
                <a:spcPct val="123000"/>
              </a:lnSpc>
              <a:buNone/>
            </a:pPr>
            <a:r>
              <a:rPr lang="en-US" sz="1100" dirty="0">
                <a:solidFill>
                  <a:srgbClr val="2A2742"/>
                </a:solidFill>
                <a:latin typeface="Arimo" pitchFamily="34" charset="0"/>
                <a:ea typeface="Arimo" pitchFamily="34" charset="-122"/>
                <a:cs typeface="Arimo" pitchFamily="34" charset="-120"/>
              </a:rPr>
              <a:t>Q1 2026 loan balance</a:t>
            </a:r>
            <a:endParaRPr lang="en-US" sz="1100" dirty="0"/>
          </a:p>
        </p:txBody>
      </p:sp>
      <p:sp>
        <p:nvSpPr>
          <p:cNvPr id="12" name="Shape 10"/>
          <p:cNvSpPr/>
          <p:nvPr/>
        </p:nvSpPr>
        <p:spPr>
          <a:xfrm>
            <a:off x="2606808" y="2571552"/>
            <a:ext cx="19050" cy="421680"/>
          </a:xfrm>
          <a:prstGeom prst="roundRect">
            <a:avLst>
              <a:gd name="adj" fmla="val 49999"/>
            </a:avLst>
          </a:prstGeom>
          <a:solidFill>
            <a:srgbClr val="B2DCE5"/>
          </a:solidFill>
          <a:ln/>
        </p:spPr>
      </p:sp>
      <p:sp>
        <p:nvSpPr>
          <p:cNvPr id="13" name="Shape 11"/>
          <p:cNvSpPr/>
          <p:nvPr/>
        </p:nvSpPr>
        <p:spPr>
          <a:xfrm>
            <a:off x="2563649" y="2518866"/>
            <a:ext cx="105368" cy="105370"/>
          </a:xfrm>
          <a:prstGeom prst="ellipse">
            <a:avLst/>
          </a:prstGeom>
          <a:solidFill>
            <a:srgbClr val="00B3D9"/>
          </a:solidFill>
          <a:ln/>
        </p:spPr>
      </p:sp>
      <p:sp>
        <p:nvSpPr>
          <p:cNvPr id="14" name="Shape 12"/>
          <p:cNvSpPr/>
          <p:nvPr/>
        </p:nvSpPr>
        <p:spPr>
          <a:xfrm>
            <a:off x="2014487" y="2993330"/>
            <a:ext cx="1203791" cy="2320230"/>
          </a:xfrm>
          <a:prstGeom prst="roundRect">
            <a:avLst>
              <a:gd name="adj" fmla="val 4905"/>
            </a:avLst>
          </a:prstGeom>
          <a:solidFill>
            <a:srgbClr val="E3F8FD"/>
          </a:solidFill>
          <a:ln w="6350">
            <a:solidFill>
              <a:srgbClr val="B2DCE5"/>
            </a:solidFill>
            <a:prstDash val="solid"/>
          </a:ln>
        </p:spPr>
      </p:sp>
      <p:sp>
        <p:nvSpPr>
          <p:cNvPr id="15" name="Text 13"/>
          <p:cNvSpPr/>
          <p:nvPr/>
        </p:nvSpPr>
        <p:spPr>
          <a:xfrm>
            <a:off x="2161327" y="3140174"/>
            <a:ext cx="910111" cy="658713"/>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$40.24B — Total Deposits</a:t>
            </a:r>
            <a:endParaRPr lang="en-US" sz="1350" dirty="0"/>
          </a:p>
        </p:txBody>
      </p:sp>
      <p:sp>
        <p:nvSpPr>
          <p:cNvPr id="16" name="Text 14"/>
          <p:cNvSpPr/>
          <p:nvPr/>
        </p:nvSpPr>
        <p:spPr>
          <a:xfrm>
            <a:off x="2161327" y="3918347"/>
            <a:ext cx="910111" cy="1248370"/>
          </a:xfrm>
          <a:prstGeom prst="rect">
            <a:avLst/>
          </a:prstGeom>
          <a:noFill/>
          <a:ln/>
        </p:spPr>
        <p:txBody>
          <a:bodyPr wrap="square" lIns="0" tIns="0" rIns="0" bIns="0" rtlCol="0" anchor="t">
            <a:normAutofit/>
          </a:bodyPr>
          <a:lstStyle/>
          <a:p>
            <a:pPr algn="ctr" indent="0" marL="0">
              <a:lnSpc>
                <a:spcPct val="123000"/>
              </a:lnSpc>
              <a:buNone/>
            </a:pPr>
            <a:r>
              <a:rPr lang="en-US" sz="1100" dirty="0">
                <a:solidFill>
                  <a:srgbClr val="2A2742"/>
                </a:solidFill>
                <a:latin typeface="Arimo" pitchFamily="34" charset="0"/>
                <a:ea typeface="Arimo" pitchFamily="34" charset="-122"/>
                <a:cs typeface="Arimo" pitchFamily="34" charset="-120"/>
              </a:rPr>
              <a:t>Deposit growth did not keep pace with loan growth in Q1 2026</a:t>
            </a:r>
            <a:endParaRPr lang="en-US" sz="1100" dirty="0"/>
          </a:p>
        </p:txBody>
      </p:sp>
      <p:sp>
        <p:nvSpPr>
          <p:cNvPr id="17" name="Shape 15"/>
          <p:cNvSpPr/>
          <p:nvPr/>
        </p:nvSpPr>
        <p:spPr>
          <a:xfrm>
            <a:off x="3959920" y="2571552"/>
            <a:ext cx="19050" cy="421680"/>
          </a:xfrm>
          <a:prstGeom prst="roundRect">
            <a:avLst>
              <a:gd name="adj" fmla="val 49999"/>
            </a:avLst>
          </a:prstGeom>
          <a:solidFill>
            <a:srgbClr val="B2DCE5"/>
          </a:solidFill>
          <a:ln/>
        </p:spPr>
      </p:sp>
      <p:sp>
        <p:nvSpPr>
          <p:cNvPr id="18" name="Shape 16"/>
          <p:cNvSpPr/>
          <p:nvPr/>
        </p:nvSpPr>
        <p:spPr>
          <a:xfrm>
            <a:off x="3916761" y="2518866"/>
            <a:ext cx="105368" cy="105370"/>
          </a:xfrm>
          <a:prstGeom prst="ellipse">
            <a:avLst/>
          </a:prstGeom>
          <a:solidFill>
            <a:srgbClr val="00B3D9"/>
          </a:solidFill>
          <a:ln/>
        </p:spPr>
      </p:sp>
      <p:sp>
        <p:nvSpPr>
          <p:cNvPr id="19" name="Shape 17"/>
          <p:cNvSpPr/>
          <p:nvPr/>
        </p:nvSpPr>
        <p:spPr>
          <a:xfrm>
            <a:off x="3367599" y="2993330"/>
            <a:ext cx="1203692" cy="3163987"/>
          </a:xfrm>
          <a:prstGeom prst="roundRect">
            <a:avLst>
              <a:gd name="adj" fmla="val 4905"/>
            </a:avLst>
          </a:prstGeom>
          <a:solidFill>
            <a:srgbClr val="E3F8FD"/>
          </a:solidFill>
          <a:ln w="6350">
            <a:solidFill>
              <a:srgbClr val="B2DCE5"/>
            </a:solidFill>
            <a:prstDash val="solid"/>
          </a:ln>
        </p:spPr>
      </p:sp>
      <p:sp>
        <p:nvSpPr>
          <p:cNvPr id="20" name="Text 18"/>
          <p:cNvSpPr/>
          <p:nvPr/>
        </p:nvSpPr>
        <p:spPr>
          <a:xfrm>
            <a:off x="3514439" y="3140174"/>
            <a:ext cx="910012" cy="878284"/>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95.4% — Deposit-to-Loan Ratio</a:t>
            </a:r>
            <a:endParaRPr lang="en-US" sz="1350" dirty="0"/>
          </a:p>
        </p:txBody>
      </p:sp>
      <p:sp>
        <p:nvSpPr>
          <p:cNvPr id="21" name="Text 19"/>
          <p:cNvSpPr/>
          <p:nvPr/>
        </p:nvSpPr>
        <p:spPr>
          <a:xfrm>
            <a:off x="3514439" y="4137918"/>
            <a:ext cx="910012" cy="1872555"/>
          </a:xfrm>
          <a:prstGeom prst="rect">
            <a:avLst/>
          </a:prstGeom>
          <a:noFill/>
          <a:ln/>
        </p:spPr>
        <p:txBody>
          <a:bodyPr wrap="square" lIns="0" tIns="0" rIns="0" bIns="0" rtlCol="0" anchor="t">
            <a:normAutofit/>
          </a:bodyPr>
          <a:lstStyle/>
          <a:p>
            <a:pPr algn="ctr" indent="0" marL="0">
              <a:lnSpc>
                <a:spcPct val="123000"/>
              </a:lnSpc>
              <a:buNone/>
            </a:pPr>
            <a:r>
              <a:rPr lang="en-US" sz="1100" dirty="0">
                <a:solidFill>
                  <a:srgbClr val="2A2742"/>
                </a:solidFill>
                <a:latin typeface="Arimo" pitchFamily="34" charset="0"/>
                <a:ea typeface="Arimo" pitchFamily="34" charset="-122"/>
                <a:cs typeface="Arimo" pitchFamily="34" charset="-120"/>
              </a:rPr>
              <a:t>Deposits did not fully cover reported loans, making the funding mix an important monitoring consideration.</a:t>
            </a:r>
            <a:endParaRPr lang="en-US" sz="1100" dirty="0"/>
          </a:p>
        </p:txBody>
      </p:sp>
      <p:sp>
        <p:nvSpPr>
          <p:cNvPr id="22" name="Shape 20"/>
          <p:cNvSpPr/>
          <p:nvPr/>
        </p:nvSpPr>
        <p:spPr>
          <a:xfrm>
            <a:off x="5312932" y="2571552"/>
            <a:ext cx="19050" cy="421680"/>
          </a:xfrm>
          <a:prstGeom prst="roundRect">
            <a:avLst>
              <a:gd name="adj" fmla="val 49999"/>
            </a:avLst>
          </a:prstGeom>
          <a:solidFill>
            <a:srgbClr val="B2DCE5"/>
          </a:solidFill>
          <a:ln/>
        </p:spPr>
      </p:sp>
      <p:sp>
        <p:nvSpPr>
          <p:cNvPr id="23" name="Shape 21"/>
          <p:cNvSpPr/>
          <p:nvPr/>
        </p:nvSpPr>
        <p:spPr>
          <a:xfrm>
            <a:off x="5269773" y="2518866"/>
            <a:ext cx="105368" cy="105370"/>
          </a:xfrm>
          <a:prstGeom prst="ellipse">
            <a:avLst/>
          </a:prstGeom>
          <a:solidFill>
            <a:srgbClr val="00B3D9"/>
          </a:solidFill>
          <a:ln/>
        </p:spPr>
      </p:sp>
      <p:sp>
        <p:nvSpPr>
          <p:cNvPr id="24" name="Shape 22"/>
          <p:cNvSpPr/>
          <p:nvPr/>
        </p:nvSpPr>
        <p:spPr>
          <a:xfrm>
            <a:off x="4720611" y="2993330"/>
            <a:ext cx="1203791" cy="2331740"/>
          </a:xfrm>
          <a:prstGeom prst="roundRect">
            <a:avLst>
              <a:gd name="adj" fmla="val 4905"/>
            </a:avLst>
          </a:prstGeom>
          <a:solidFill>
            <a:srgbClr val="E3F8FD"/>
          </a:solidFill>
          <a:ln w="6350">
            <a:solidFill>
              <a:srgbClr val="B2DCE5"/>
            </a:solidFill>
            <a:prstDash val="solid"/>
          </a:ln>
        </p:spPr>
      </p:sp>
      <p:sp>
        <p:nvSpPr>
          <p:cNvPr id="25" name="Text 23"/>
          <p:cNvSpPr/>
          <p:nvPr/>
        </p:nvSpPr>
        <p:spPr>
          <a:xfrm>
            <a:off x="4867451" y="3140174"/>
            <a:ext cx="910111" cy="878284"/>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$12.18B — Loan Originations</a:t>
            </a:r>
            <a:endParaRPr lang="en-US" sz="1350" dirty="0"/>
          </a:p>
        </p:txBody>
      </p:sp>
      <p:sp>
        <p:nvSpPr>
          <p:cNvPr id="26" name="Text 24"/>
          <p:cNvSpPr/>
          <p:nvPr/>
        </p:nvSpPr>
        <p:spPr>
          <a:xfrm>
            <a:off x="4867451" y="4137918"/>
            <a:ext cx="910111" cy="1040309"/>
          </a:xfrm>
          <a:prstGeom prst="rect">
            <a:avLst/>
          </a:prstGeom>
          <a:noFill/>
          <a:ln/>
        </p:spPr>
        <p:txBody>
          <a:bodyPr wrap="square" lIns="0" tIns="0" rIns="0" bIns="0" rtlCol="0" anchor="t">
            <a:normAutofit/>
          </a:bodyPr>
          <a:lstStyle/>
          <a:p>
            <a:pPr algn="ctr" indent="0" marL="0">
              <a:lnSpc>
                <a:spcPct val="123000"/>
              </a:lnSpc>
              <a:buNone/>
            </a:pPr>
            <a:r>
              <a:rPr lang="en-US" sz="1100" dirty="0">
                <a:solidFill>
                  <a:srgbClr val="2A2742"/>
                </a:solidFill>
                <a:latin typeface="Arimo" pitchFamily="34" charset="0"/>
                <a:ea typeface="Arimo" pitchFamily="34" charset="-122"/>
                <a:cs typeface="Arimo" pitchFamily="34" charset="-120"/>
              </a:rPr>
              <a:t>Record loan originations, reflecting strong lending activity.</a:t>
            </a:r>
            <a:endParaRPr lang="en-US" sz="1100" dirty="0"/>
          </a:p>
        </p:txBody>
      </p:sp>
      <p:sp>
        <p:nvSpPr>
          <p:cNvPr id="27" name="Text 25"/>
          <p:cNvSpPr/>
          <p:nvPr/>
        </p:nvSpPr>
        <p:spPr>
          <a:xfrm>
            <a:off x="6273643" y="2112268"/>
            <a:ext cx="5262927" cy="219571"/>
          </a:xfrm>
          <a:prstGeom prst="rect">
            <a:avLst/>
          </a:prstGeom>
          <a:noFill/>
          <a:ln/>
        </p:spPr>
        <p:txBody>
          <a:bodyPr wrap="none" lIns="0" tIns="0" rIns="0" bIns="0" rtlCol="0" anchor="t"/>
          <a:lstStyle/>
          <a:p>
            <a:pPr algn="l" indent="0" marL="0">
              <a:lnSpc>
                <a:spcPct val="104000"/>
              </a:lnSpc>
              <a:buNone/>
            </a:pPr>
            <a:r>
              <a:rPr lang="en-US" sz="1350" dirty="0">
                <a:solidFill>
                  <a:srgbClr val="231971"/>
                </a:solidFill>
                <a:latin typeface="Outfit ExtraBold" pitchFamily="34" charset="0"/>
                <a:ea typeface="Outfit ExtraBold" pitchFamily="34" charset="-122"/>
                <a:cs typeface="Outfit ExtraBold" pitchFamily="34" charset="-120"/>
              </a:rPr>
              <a:t>Credit Quality Analysis</a:t>
            </a:r>
            <a:endParaRPr lang="en-US" sz="1350" dirty="0"/>
          </a:p>
        </p:txBody>
      </p:sp>
      <p:sp>
        <p:nvSpPr>
          <p:cNvPr id="28" name="Shape 26"/>
          <p:cNvSpPr/>
          <p:nvPr/>
        </p:nvSpPr>
        <p:spPr>
          <a:xfrm>
            <a:off x="6431794" y="2466181"/>
            <a:ext cx="19050" cy="1637804"/>
          </a:xfrm>
          <a:prstGeom prst="roundRect">
            <a:avLst>
              <a:gd name="adj" fmla="val 49999"/>
            </a:avLst>
          </a:prstGeom>
          <a:solidFill>
            <a:srgbClr val="B2DCE5"/>
          </a:solidFill>
          <a:ln/>
        </p:spPr>
      </p:sp>
      <p:sp>
        <p:nvSpPr>
          <p:cNvPr id="29" name="Shape 27"/>
          <p:cNvSpPr/>
          <p:nvPr/>
        </p:nvSpPr>
        <p:spPr>
          <a:xfrm>
            <a:off x="6570895" y="2614811"/>
            <a:ext cx="421669" cy="19050"/>
          </a:xfrm>
          <a:prstGeom prst="roundRect">
            <a:avLst>
              <a:gd name="adj" fmla="val 49999"/>
            </a:avLst>
          </a:prstGeom>
          <a:solidFill>
            <a:srgbClr val="B2DCE5"/>
          </a:solidFill>
          <a:ln/>
        </p:spPr>
      </p:sp>
      <p:sp>
        <p:nvSpPr>
          <p:cNvPr id="30" name="Shape 28"/>
          <p:cNvSpPr/>
          <p:nvPr/>
        </p:nvSpPr>
        <p:spPr>
          <a:xfrm>
            <a:off x="6273643" y="2466181"/>
            <a:ext cx="316301" cy="316309"/>
          </a:xfrm>
          <a:prstGeom prst="roundRect">
            <a:avLst>
              <a:gd name="adj" fmla="val 18667"/>
            </a:avLst>
          </a:prstGeom>
          <a:solidFill>
            <a:srgbClr val="E3F8FD"/>
          </a:solidFill>
          <a:ln w="6350">
            <a:solidFill>
              <a:srgbClr val="B2DCE5"/>
            </a:solidFill>
            <a:prstDash val="solid"/>
          </a:ln>
        </p:spPr>
      </p:sp>
      <p:sp>
        <p:nvSpPr>
          <p:cNvPr id="31" name="Text 29"/>
          <p:cNvSpPr/>
          <p:nvPr/>
        </p:nvSpPr>
        <p:spPr>
          <a:xfrm>
            <a:off x="6326376" y="2492573"/>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2A2742"/>
                </a:solidFill>
                <a:latin typeface="Outfit ExtraBold" pitchFamily="34" charset="0"/>
                <a:ea typeface="Outfit ExtraBold" pitchFamily="34" charset="-122"/>
                <a:cs typeface="Outfit ExtraBold" pitchFamily="34" charset="-120"/>
              </a:rPr>
              <a:t>1</a:t>
            </a:r>
            <a:endParaRPr lang="en-US" sz="1650" dirty="0"/>
          </a:p>
        </p:txBody>
      </p:sp>
      <p:sp>
        <p:nvSpPr>
          <p:cNvPr id="32" name="Text 30"/>
          <p:cNvSpPr/>
          <p:nvPr/>
        </p:nvSpPr>
        <p:spPr>
          <a:xfrm>
            <a:off x="7134642" y="2514501"/>
            <a:ext cx="4401928" cy="219571"/>
          </a:xfrm>
          <a:prstGeom prst="rect">
            <a:avLst/>
          </a:prstGeom>
          <a:noFill/>
          <a:ln/>
        </p:spPr>
        <p:txBody>
          <a:bodyPr wrap="none" lIns="0" tIns="0" rIns="0" bIns="0" rtlCol="0" anchor="t"/>
          <a:lstStyle/>
          <a:p>
            <a:pPr algn="l"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2.04% — Total NCO Rate</a:t>
            </a:r>
            <a:endParaRPr lang="en-US" sz="1350" dirty="0"/>
          </a:p>
        </p:txBody>
      </p:sp>
      <p:sp>
        <p:nvSpPr>
          <p:cNvPr id="33" name="Text 31"/>
          <p:cNvSpPr/>
          <p:nvPr/>
        </p:nvSpPr>
        <p:spPr>
          <a:xfrm>
            <a:off x="7134642" y="2853531"/>
            <a:ext cx="4401928"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E7D32"/>
                </a:solidFill>
                <a:latin typeface="Arimo" pitchFamily="34" charset="0"/>
                <a:ea typeface="Arimo" pitchFamily="34" charset="-122"/>
                <a:cs typeface="Arimo" pitchFamily="34" charset="-120"/>
              </a:rPr>
              <a:t>Overall portfolio NCO rate; </a:t>
            </a:r>
            <a:pPr algn="l" indent="0" marL="0">
              <a:lnSpc>
                <a:spcPct val="123000"/>
              </a:lnSpc>
              <a:buNone/>
            </a:pPr>
            <a:r>
              <a:rPr lang="en-US" sz="1100" dirty="0">
                <a:solidFill>
                  <a:srgbClr val="2A2742"/>
                </a:solidFill>
                <a:latin typeface="Arimo" pitchFamily="34" charset="0"/>
                <a:ea typeface="Arimo" pitchFamily="34" charset="-122"/>
                <a:cs typeface="Arimo" pitchFamily="34" charset="-120"/>
              </a:rPr>
              <a:t>remains a key credit-quality monitoring metric.</a:t>
            </a:r>
            <a:endParaRPr lang="en-US" sz="1100" dirty="0"/>
          </a:p>
        </p:txBody>
      </p:sp>
      <p:sp>
        <p:nvSpPr>
          <p:cNvPr id="34" name="Shape 32"/>
          <p:cNvSpPr/>
          <p:nvPr/>
        </p:nvSpPr>
        <p:spPr>
          <a:xfrm>
            <a:off x="6570895" y="3657203"/>
            <a:ext cx="421669" cy="19050"/>
          </a:xfrm>
          <a:prstGeom prst="roundRect">
            <a:avLst>
              <a:gd name="adj" fmla="val 49999"/>
            </a:avLst>
          </a:prstGeom>
          <a:solidFill>
            <a:srgbClr val="B2DCE5"/>
          </a:solidFill>
          <a:ln/>
        </p:spPr>
      </p:sp>
      <p:sp>
        <p:nvSpPr>
          <p:cNvPr id="35" name="Shape 33"/>
          <p:cNvSpPr/>
          <p:nvPr/>
        </p:nvSpPr>
        <p:spPr>
          <a:xfrm>
            <a:off x="6273643" y="3508573"/>
            <a:ext cx="316301" cy="316309"/>
          </a:xfrm>
          <a:prstGeom prst="roundRect">
            <a:avLst>
              <a:gd name="adj" fmla="val 18667"/>
            </a:avLst>
          </a:prstGeom>
          <a:solidFill>
            <a:srgbClr val="E3F8FD"/>
          </a:solidFill>
          <a:ln w="6350">
            <a:solidFill>
              <a:srgbClr val="B2DCE5"/>
            </a:solidFill>
            <a:prstDash val="solid"/>
          </a:ln>
        </p:spPr>
      </p:sp>
      <p:sp>
        <p:nvSpPr>
          <p:cNvPr id="36" name="Text 34"/>
          <p:cNvSpPr/>
          <p:nvPr/>
        </p:nvSpPr>
        <p:spPr>
          <a:xfrm>
            <a:off x="6326376" y="3534966"/>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2A2742"/>
                </a:solidFill>
                <a:latin typeface="Outfit ExtraBold" pitchFamily="34" charset="0"/>
                <a:ea typeface="Outfit ExtraBold" pitchFamily="34" charset="-122"/>
                <a:cs typeface="Outfit ExtraBold" pitchFamily="34" charset="-120"/>
              </a:rPr>
              <a:t>2</a:t>
            </a:r>
            <a:endParaRPr lang="en-US" sz="1650" dirty="0"/>
          </a:p>
        </p:txBody>
      </p:sp>
      <p:sp>
        <p:nvSpPr>
          <p:cNvPr id="37" name="Text 35"/>
          <p:cNvSpPr/>
          <p:nvPr/>
        </p:nvSpPr>
        <p:spPr>
          <a:xfrm>
            <a:off x="7134642" y="3556893"/>
            <a:ext cx="4401928" cy="219571"/>
          </a:xfrm>
          <a:prstGeom prst="rect">
            <a:avLst/>
          </a:prstGeom>
          <a:noFill/>
          <a:ln/>
        </p:spPr>
        <p:txBody>
          <a:bodyPr wrap="none" lIns="0" tIns="0" rIns="0" bIns="0" rtlCol="0" anchor="t"/>
          <a:lstStyle/>
          <a:p>
            <a:pPr algn="l"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~6.68% — Credit Card NCO Rate</a:t>
            </a:r>
            <a:endParaRPr lang="en-US" sz="1350" dirty="0"/>
          </a:p>
        </p:txBody>
      </p:sp>
      <p:sp>
        <p:nvSpPr>
          <p:cNvPr id="38" name="Text 36"/>
          <p:cNvSpPr/>
          <p:nvPr/>
        </p:nvSpPr>
        <p:spPr>
          <a:xfrm>
            <a:off x="7134642" y="3895923"/>
            <a:ext cx="4401928" cy="208062"/>
          </a:xfrm>
          <a:prstGeom prst="rect">
            <a:avLst/>
          </a:prstGeom>
          <a:noFill/>
          <a:ln/>
        </p:spPr>
        <p:txBody>
          <a:bodyPr wrap="none" lIns="0" tIns="0" rIns="0" bIns="0" rtlCol="0" anchor="t"/>
          <a:lstStyle/>
          <a:p>
            <a:pPr algn="l" indent="0" marL="0">
              <a:lnSpc>
                <a:spcPct val="123000"/>
              </a:lnSpc>
              <a:buNone/>
            </a:pPr>
            <a:r>
              <a:rPr lang="en-US" sz="1100" b="1" dirty="0">
                <a:solidFill>
                  <a:srgbClr val="1A3A52"/>
                </a:solidFill>
                <a:latin typeface="Arimo Bold" pitchFamily="34" charset="0"/>
                <a:ea typeface="Arimo Bold" pitchFamily="34" charset="-122"/>
                <a:cs typeface="Arimo Bold" pitchFamily="34" charset="-120"/>
              </a:rPr>
              <a:t>Highest displayed category — warrants continued monitoring.</a:t>
            </a:r>
            <a:endParaRPr lang="en-US" sz="1100" dirty="0"/>
          </a:p>
        </p:txBody>
      </p:sp>
      <p:sp>
        <p:nvSpPr>
          <p:cNvPr id="39" name="Shape 37"/>
          <p:cNvSpPr/>
          <p:nvPr/>
        </p:nvSpPr>
        <p:spPr>
          <a:xfrm>
            <a:off x="6273643" y="4238327"/>
            <a:ext cx="5262927" cy="909340"/>
          </a:xfrm>
          <a:prstGeom prst="roundRect">
            <a:avLst>
              <a:gd name="adj" fmla="val 6493"/>
            </a:avLst>
          </a:prstGeom>
          <a:solidFill>
            <a:srgbClr val="2A2742"/>
          </a:solidFill>
          <a:ln/>
        </p:spPr>
      </p:sp>
      <p:pic>
        <p:nvPicPr>
          <p:cNvPr id="40" name="Image 0" descr="preencoded.png">    </p:cNvPr>
          <p:cNvPicPr>
            <a:picLocks noChangeAspect="1"/>
          </p:cNvPicPr>
          <p:nvPr/>
        </p:nvPicPr>
        <p:blipFill>
          <a:blip r:embed="rId1"/>
          <a:stretch>
            <a:fillRect/>
          </a:stretch>
        </p:blipFill>
        <p:spPr>
          <a:xfrm>
            <a:off x="6414133" y="4416028"/>
            <a:ext cx="175712" cy="140494"/>
          </a:xfrm>
          <a:prstGeom prst="rect">
            <a:avLst/>
          </a:prstGeom>
        </p:spPr>
      </p:pic>
      <p:sp>
        <p:nvSpPr>
          <p:cNvPr id="41" name="Text 38"/>
          <p:cNvSpPr/>
          <p:nvPr/>
        </p:nvSpPr>
        <p:spPr>
          <a:xfrm>
            <a:off x="6730336" y="4380905"/>
            <a:ext cx="4665744" cy="624185"/>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FFFFFF"/>
                </a:solidFill>
                <a:latin typeface="Arimo Bold" pitchFamily="34" charset="0"/>
                <a:ea typeface="Arimo Bold" pitchFamily="34" charset="-122"/>
                <a:cs typeface="Arimo Bold" pitchFamily="34" charset="-120"/>
              </a:rPr>
              <a:t>Loans expanded faster than deposits in Q1 2026, and the deposit-to-loan ratio declined to 95.4%. This makes funding mix and credit performance important areas for continued monitoring.</a:t>
            </a:r>
            <a:endParaRPr lang="en-US" sz="1100" dirty="0"/>
          </a:p>
        </p:txBody>
      </p:sp>
      <p:pic>
        <p:nvPicPr>
          <p:cNvPr id="42" name="Image 1" descr="preencoded.png">    </p:cNvPr>
          <p:cNvPicPr>
            <a:picLocks noChangeAspect="1"/>
          </p:cNvPicPr>
          <p:nvPr/>
        </p:nvPicPr>
        <p:blipFill>
          <a:blip r:embed="rId2"/>
          <a:stretch>
            <a:fillRect/>
          </a:stretch>
        </p:blipFill>
        <p:spPr>
          <a:xfrm>
            <a:off x="115686" y="130473"/>
            <a:ext cx="575752" cy="3013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671116"/>
            <a:ext cx="1250323" cy="226219"/>
          </a:xfrm>
          <a:prstGeom prst="roundRect">
            <a:avLst>
              <a:gd name="adj" fmla="val 22109"/>
            </a:avLst>
          </a:prstGeom>
          <a:solidFill>
            <a:srgbClr val="CCF6FF"/>
          </a:solidFill>
          <a:ln/>
        </p:spPr>
      </p:sp>
      <p:sp>
        <p:nvSpPr>
          <p:cNvPr id="3" name="Text 1"/>
          <p:cNvSpPr/>
          <p:nvPr/>
        </p:nvSpPr>
        <p:spPr>
          <a:xfrm>
            <a:off x="750769" y="715764"/>
            <a:ext cx="1681319" cy="136922"/>
          </a:xfrm>
          <a:prstGeom prst="rect">
            <a:avLst/>
          </a:prstGeom>
          <a:noFill/>
          <a:ln/>
        </p:spPr>
        <p:txBody>
          <a:bodyPr wrap="none" lIns="0" tIns="0" rIns="0" bIns="0" rtlCol="0" anchor="t"/>
          <a:lstStyle/>
          <a:p>
            <a:pPr algn="l" indent="0" marL="0">
              <a:lnSpc>
                <a:spcPct val="96000"/>
              </a:lnSpc>
              <a:buNone/>
            </a:pPr>
            <a:r>
              <a:rPr lang="en-US" sz="900" dirty="0">
                <a:solidFill>
                  <a:srgbClr val="2A2742"/>
                </a:solidFill>
                <a:latin typeface="Arimo" pitchFamily="34" charset="0"/>
                <a:ea typeface="Arimo" pitchFamily="34" charset="-122"/>
                <a:cs typeface="Arimo" pitchFamily="34" charset="-120"/>
              </a:rPr>
              <a:t>CASH EFFICIENCY</a:t>
            </a:r>
            <a:endParaRPr lang="en-US" sz="900" dirty="0"/>
          </a:p>
        </p:txBody>
      </p:sp>
      <p:sp>
        <p:nvSpPr>
          <p:cNvPr id="4" name="Text 2"/>
          <p:cNvSpPr/>
          <p:nvPr/>
        </p:nvSpPr>
        <p:spPr>
          <a:xfrm>
            <a:off x="661475" y="950912"/>
            <a:ext cx="10868745" cy="930275"/>
          </a:xfrm>
          <a:prstGeom prst="rect">
            <a:avLst/>
          </a:prstGeom>
          <a:noFill/>
          <a:ln/>
        </p:spPr>
        <p:txBody>
          <a:bodyPr wrap="square" lIns="0" tIns="0" rIns="0" bIns="0" rtlCol="0" anchor="t">
            <a:normAutofit/>
          </a:bodyPr>
          <a:lstStyle/>
          <a:p>
            <a:pPr algn="l" indent="0" marL="0">
              <a:lnSpc>
                <a:spcPct val="104000"/>
              </a:lnSpc>
              <a:buNone/>
            </a:pPr>
            <a:r>
              <a:rPr lang="en-US" sz="2900" dirty="0">
                <a:solidFill>
                  <a:srgbClr val="231971"/>
                </a:solidFill>
                <a:latin typeface="Outfit ExtraBold" pitchFamily="34" charset="0"/>
                <a:ea typeface="Outfit ExtraBold" pitchFamily="34" charset="-122"/>
                <a:cs typeface="Outfit ExtraBold" pitchFamily="34" charset="-120"/>
              </a:rPr>
              <a:t>Profitability improved sharply, but cash conversion remains the key tension</a:t>
            </a:r>
            <a:endParaRPr lang="en-US" sz="2900" dirty="0"/>
          </a:p>
        </p:txBody>
      </p:sp>
      <p:sp>
        <p:nvSpPr>
          <p:cNvPr id="5" name="Text 3"/>
          <p:cNvSpPr/>
          <p:nvPr/>
        </p:nvSpPr>
        <p:spPr>
          <a:xfrm>
            <a:off x="661475" y="2202656"/>
            <a:ext cx="4739164" cy="226219"/>
          </a:xfrm>
          <a:prstGeom prst="rect">
            <a:avLst/>
          </a:prstGeom>
          <a:noFill/>
          <a:ln/>
        </p:spPr>
        <p:txBody>
          <a:bodyPr wrap="none" lIns="0" tIns="0" rIns="0" bIns="0" rtlCol="0" anchor="t"/>
          <a:lstStyle/>
          <a:p>
            <a:pPr algn="l" indent="0" marL="0">
              <a:lnSpc>
                <a:spcPct val="127000"/>
              </a:lnSpc>
              <a:buNone/>
            </a:pPr>
            <a:r>
              <a:rPr lang="en-US" sz="1150" b="1" dirty="0">
                <a:solidFill>
                  <a:srgbClr val="2A2742"/>
                </a:solidFill>
                <a:latin typeface="Arimo Bold" pitchFamily="34" charset="0"/>
                <a:ea typeface="Arimo Bold" pitchFamily="34" charset="-122"/>
                <a:cs typeface="Arimo Bold" pitchFamily="34" charset="-120"/>
              </a:rPr>
              <a:t>Operating Cash Flow vs GAAP Net Income</a:t>
            </a:r>
            <a:endParaRPr lang="en-US" sz="1150" dirty="0"/>
          </a:p>
        </p:txBody>
      </p:sp>
      <p:pic>
        <p:nvPicPr>
          <p:cNvPr id="6" name="Image 0" descr="preencoded.png">    </p:cNvPr>
          <p:cNvPicPr>
            <a:picLocks noChangeAspect="1"/>
          </p:cNvPicPr>
          <p:nvPr/>
        </p:nvPicPr>
        <p:blipFill>
          <a:blip r:embed="rId1"/>
          <a:stretch>
            <a:fillRect/>
          </a:stretch>
        </p:blipFill>
        <p:spPr>
          <a:xfrm>
            <a:off x="661475" y="2579588"/>
            <a:ext cx="3716542" cy="2990949"/>
          </a:xfrm>
          <a:prstGeom prst="rect">
            <a:avLst/>
          </a:prstGeom>
        </p:spPr>
      </p:pic>
      <p:sp>
        <p:nvSpPr>
          <p:cNvPr id="7" name="Text 4"/>
          <p:cNvSpPr/>
          <p:nvPr/>
        </p:nvSpPr>
        <p:spPr>
          <a:xfrm>
            <a:off x="661475" y="5721251"/>
            <a:ext cx="4129580"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2A2742"/>
                </a:solidFill>
                <a:latin typeface="Arimo" pitchFamily="34" charset="0"/>
                <a:ea typeface="Arimo" pitchFamily="34" charset="-122"/>
                <a:cs typeface="Arimo" pitchFamily="34" charset="-120"/>
              </a:rPr>
              <a:t> </a:t>
            </a:r>
            <a:pPr algn="l" indent="0" marL="0">
              <a:lnSpc>
                <a:spcPct val="127000"/>
              </a:lnSpc>
              <a:buNone/>
            </a:pPr>
            <a:r>
              <a:rPr lang="en-US" sz="1150" b="1" dirty="0">
                <a:solidFill>
                  <a:srgbClr val="2A2742"/>
                </a:solidFill>
                <a:latin typeface="Arimo Bold" pitchFamily="34" charset="0"/>
                <a:ea typeface="Arimo Bold" pitchFamily="34" charset="-122"/>
                <a:cs typeface="Arimo Bold" pitchFamily="34" charset="-120"/>
              </a:rPr>
              <a:t>$2.48B divergence:</a:t>
            </a:r>
            <a:pPr algn="l" indent="0" marL="0">
              <a:lnSpc>
                <a:spcPct val="127000"/>
              </a:lnSpc>
              <a:buNone/>
            </a:pPr>
            <a:r>
              <a:rPr lang="en-US" sz="1150" dirty="0">
                <a:solidFill>
                  <a:srgbClr val="2A2742"/>
                </a:solidFill>
                <a:latin typeface="Arimo" pitchFamily="34" charset="0"/>
                <a:ea typeface="Arimo" pitchFamily="34" charset="-122"/>
                <a:cs typeface="Arimo" pitchFamily="34" charset="-120"/>
              </a:rPr>
              <a:t> the gap between accounting profit and operating cash generation is immediately visible.</a:t>
            </a:r>
            <a:endParaRPr lang="en-US" sz="1150" dirty="0"/>
          </a:p>
        </p:txBody>
      </p:sp>
      <p:sp>
        <p:nvSpPr>
          <p:cNvPr id="8" name="Text 5"/>
          <p:cNvSpPr/>
          <p:nvPr/>
        </p:nvSpPr>
        <p:spPr>
          <a:xfrm>
            <a:off x="5160536" y="2216051"/>
            <a:ext cx="6375935" cy="232470"/>
          </a:xfrm>
          <a:prstGeom prst="rect">
            <a:avLst/>
          </a:prstGeom>
          <a:noFill/>
          <a:ln/>
        </p:spPr>
        <p:txBody>
          <a:bodyPr wrap="none" lIns="0" tIns="0" rIns="0" bIns="0" rtlCol="0" anchor="t"/>
          <a:lstStyle/>
          <a:p>
            <a:pPr algn="l" indent="0" marL="0">
              <a:lnSpc>
                <a:spcPct val="104000"/>
              </a:lnSpc>
              <a:buNone/>
            </a:pPr>
            <a:r>
              <a:rPr lang="en-US" sz="1450" dirty="0">
                <a:solidFill>
                  <a:srgbClr val="231971"/>
                </a:solidFill>
                <a:latin typeface="Outfit ExtraBold" pitchFamily="34" charset="0"/>
                <a:ea typeface="Outfit ExtraBold" pitchFamily="34" charset="-122"/>
                <a:cs typeface="Outfit ExtraBold" pitchFamily="34" charset="-120"/>
              </a:rPr>
              <a:t>Analytical Interpretation</a:t>
            </a:r>
            <a:endParaRPr lang="en-US" sz="1450" dirty="0"/>
          </a:p>
        </p:txBody>
      </p:sp>
      <p:sp>
        <p:nvSpPr>
          <p:cNvPr id="9" name="Text 6"/>
          <p:cNvSpPr/>
          <p:nvPr/>
        </p:nvSpPr>
        <p:spPr>
          <a:xfrm>
            <a:off x="5160536" y="2582466"/>
            <a:ext cx="6375935" cy="1477863"/>
          </a:xfrm>
          <a:prstGeom prst="rect">
            <a:avLst/>
          </a:prstGeom>
          <a:noFill/>
          <a:ln/>
        </p:spPr>
        <p:txBody>
          <a:bodyPr wrap="square" lIns="0" tIns="0" rIns="0" bIns="0" rtlCol="0" anchor="t">
            <a:normAutofit/>
          </a:bodyPr>
          <a:lstStyle/>
          <a:p>
            <a:pPr algn="l" indent="0" marL="0">
              <a:lnSpc>
                <a:spcPct val="127000"/>
              </a:lnSpc>
              <a:spcAft>
                <a:spcPts val="900"/>
              </a:spcAft>
              <a:buNone/>
            </a:pPr>
            <a:r>
              <a:rPr lang="en-US" sz="1150" dirty="0">
                <a:solidFill>
                  <a:srgbClr val="2A2742"/>
                </a:solidFill>
                <a:latin typeface="Arimo" pitchFamily="34" charset="0"/>
                <a:ea typeface="Arimo" pitchFamily="34" charset="-122"/>
                <a:cs typeface="Arimo" pitchFamily="34" charset="-120"/>
              </a:rPr>
              <a:t>Negative operating cash flow does not automatically indicate poor business quality. Q1 originations of $12.18B provide context for the scale of lending activity, while the $2.48B profit-to-cash divergence remains a material monitoring signal.</a:t>
            </a:r>
            <a:endParaRPr lang="en-US" sz="1150" dirty="0"/>
          </a:p>
          <a:p>
            <a:pPr algn="l" indent="0" marL="0">
              <a:lnSpc>
                <a:spcPct val="127000"/>
              </a:lnSpc>
              <a:buNone/>
            </a:pPr>
            <a:r>
              <a:rPr lang="en-US" sz="1150" dirty="0">
                <a:solidFill>
                  <a:srgbClr val="2A2742"/>
                </a:solidFill>
                <a:latin typeface="Arimo" pitchFamily="34" charset="0"/>
                <a:ea typeface="Arimo" pitchFamily="34" charset="-122"/>
                <a:cs typeface="Arimo" pitchFamily="34" charset="-120"/>
              </a:rPr>
              <a:t>However, the magnitude of divergence — a -13.88× OCF-to-net-income ratio — is a </a:t>
            </a:r>
            <a:pPr algn="l" indent="0" marL="0">
              <a:lnSpc>
                <a:spcPct val="127000"/>
              </a:lnSpc>
              <a:buNone/>
            </a:pPr>
            <a:r>
              <a:rPr lang="en-US" sz="1150" b="1" dirty="0">
                <a:solidFill>
                  <a:srgbClr val="2A2742"/>
                </a:solidFill>
                <a:latin typeface="Arimo Bold" pitchFamily="34" charset="0"/>
                <a:ea typeface="Arimo Bold" pitchFamily="34" charset="-122"/>
                <a:cs typeface="Arimo Bold" pitchFamily="34" charset="-120"/>
              </a:rPr>
              <a:t>material monitoring signal</a:t>
            </a:r>
            <a:pPr algn="l" indent="0" marL="0">
              <a:lnSpc>
                <a:spcPct val="127000"/>
              </a:lnSpc>
              <a:buNone/>
            </a:pPr>
            <a:r>
              <a:rPr lang="en-US" sz="1150" dirty="0">
                <a:solidFill>
                  <a:srgbClr val="2A2742"/>
                </a:solidFill>
                <a:latin typeface="Arimo" pitchFamily="34" charset="0"/>
                <a:ea typeface="Arimo" pitchFamily="34" charset="-122"/>
                <a:cs typeface="Arimo" pitchFamily="34" charset="-120"/>
              </a:rPr>
              <a:t>. Operating cash flow was -$2.31B despite $166.7M of positive GAAP net income, creating a $2.48B divergence.</a:t>
            </a:r>
            <a:endParaRPr lang="en-US" sz="1150" dirty="0"/>
          </a:p>
        </p:txBody>
      </p:sp>
      <p:sp>
        <p:nvSpPr>
          <p:cNvPr id="10" name="Shape 7"/>
          <p:cNvSpPr/>
          <p:nvPr/>
        </p:nvSpPr>
        <p:spPr>
          <a:xfrm>
            <a:off x="5160536" y="4290120"/>
            <a:ext cx="74412" cy="74414"/>
          </a:xfrm>
          <a:prstGeom prst="ellipse">
            <a:avLst/>
          </a:prstGeom>
          <a:solidFill>
            <a:srgbClr val="00B3D9"/>
          </a:solidFill>
          <a:ln/>
        </p:spPr>
      </p:sp>
      <p:sp>
        <p:nvSpPr>
          <p:cNvPr id="11" name="Text 8"/>
          <p:cNvSpPr/>
          <p:nvPr/>
        </p:nvSpPr>
        <p:spPr>
          <a:xfrm>
            <a:off x="5368890" y="4211042"/>
            <a:ext cx="2895924" cy="464939"/>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2A2742"/>
                </a:solidFill>
                <a:latin typeface="Outfit ExtraBold" pitchFamily="34" charset="0"/>
                <a:ea typeface="Outfit ExtraBold" pitchFamily="34" charset="-122"/>
                <a:cs typeface="Outfit ExtraBold" pitchFamily="34" charset="-120"/>
              </a:rPr>
              <a:t>Q1 originations at record $12.18B pressure near-term OCF</a:t>
            </a:r>
            <a:endParaRPr lang="en-US" sz="1450" dirty="0"/>
          </a:p>
        </p:txBody>
      </p:sp>
      <p:sp>
        <p:nvSpPr>
          <p:cNvPr id="12" name="Shape 9"/>
          <p:cNvSpPr/>
          <p:nvPr/>
        </p:nvSpPr>
        <p:spPr>
          <a:xfrm>
            <a:off x="8432192" y="4290120"/>
            <a:ext cx="74412" cy="74414"/>
          </a:xfrm>
          <a:prstGeom prst="ellipse">
            <a:avLst/>
          </a:prstGeom>
          <a:solidFill>
            <a:srgbClr val="00B3D9"/>
          </a:solidFill>
          <a:ln/>
        </p:spPr>
      </p:sp>
      <p:sp>
        <p:nvSpPr>
          <p:cNvPr id="13" name="Text 10"/>
          <p:cNvSpPr/>
          <p:nvPr/>
        </p:nvSpPr>
        <p:spPr>
          <a:xfrm>
            <a:off x="8640546" y="4211042"/>
            <a:ext cx="2895924" cy="464939"/>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2A2742"/>
                </a:solidFill>
                <a:latin typeface="Outfit ExtraBold" pitchFamily="34" charset="0"/>
                <a:ea typeface="Outfit ExtraBold" pitchFamily="34" charset="-122"/>
                <a:cs typeface="Outfit ExtraBold" pitchFamily="34" charset="-120"/>
              </a:rPr>
              <a:t>Cash-conversion trajectory is the key monitoring question</a:t>
            </a:r>
            <a:endParaRPr lang="en-US" sz="1450" dirty="0"/>
          </a:p>
        </p:txBody>
      </p:sp>
      <p:sp>
        <p:nvSpPr>
          <p:cNvPr id="14" name="Shape 11"/>
          <p:cNvSpPr/>
          <p:nvPr/>
        </p:nvSpPr>
        <p:spPr>
          <a:xfrm>
            <a:off x="5160536" y="5022949"/>
            <a:ext cx="74412" cy="74414"/>
          </a:xfrm>
          <a:prstGeom prst="ellipse">
            <a:avLst/>
          </a:prstGeom>
          <a:solidFill>
            <a:srgbClr val="00B3D9"/>
          </a:solidFill>
          <a:ln/>
        </p:spPr>
      </p:sp>
      <p:sp>
        <p:nvSpPr>
          <p:cNvPr id="15" name="Text 12"/>
          <p:cNvSpPr/>
          <p:nvPr/>
        </p:nvSpPr>
        <p:spPr>
          <a:xfrm>
            <a:off x="5368890" y="4943872"/>
            <a:ext cx="6167581" cy="232470"/>
          </a:xfrm>
          <a:prstGeom prst="rect">
            <a:avLst/>
          </a:prstGeom>
          <a:noFill/>
          <a:ln/>
        </p:spPr>
        <p:txBody>
          <a:bodyPr wrap="none" lIns="0" tIns="0" rIns="0" bIns="0" rtlCol="0" anchor="t"/>
          <a:lstStyle/>
          <a:p>
            <a:pPr algn="l" indent="0" marL="0">
              <a:lnSpc>
                <a:spcPct val="104000"/>
              </a:lnSpc>
              <a:buNone/>
            </a:pPr>
            <a:r>
              <a:rPr lang="en-US" sz="1450" dirty="0">
                <a:solidFill>
                  <a:srgbClr val="2A2742"/>
                </a:solidFill>
                <a:latin typeface="Outfit ExtraBold" pitchFamily="34" charset="0"/>
                <a:ea typeface="Outfit ExtraBold" pitchFamily="34" charset="-122"/>
                <a:cs typeface="Outfit ExtraBold" pitchFamily="34" charset="-120"/>
              </a:rPr>
              <a:t>Monitoring signal: not automatic negative, but requires explanation</a:t>
            </a:r>
            <a:endParaRPr lang="en-US" sz="1450" dirty="0"/>
          </a:p>
        </p:txBody>
      </p:sp>
      <p:pic>
        <p:nvPicPr>
          <p:cNvPr id="16" name="Image 1" descr="preencoded.png">    </p:cNvPr>
          <p:cNvPicPr>
            <a:picLocks noChangeAspect="1"/>
          </p:cNvPicPr>
          <p:nvPr/>
        </p:nvPicPr>
        <p:blipFill>
          <a:blip r:embed="rId2"/>
          <a:stretch>
            <a:fillRect/>
          </a:stretch>
        </p:blipFill>
        <p:spPr>
          <a:xfrm>
            <a:off x="115686" y="130473"/>
            <a:ext cx="575752" cy="3013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62273"/>
            <a:ext cx="1719716" cy="213717"/>
          </a:xfrm>
          <a:prstGeom prst="roundRect">
            <a:avLst>
              <a:gd name="adj" fmla="val 22102"/>
            </a:avLst>
          </a:prstGeom>
          <a:solidFill>
            <a:srgbClr val="CCF6FF"/>
          </a:solidFill>
          <a:ln/>
        </p:spPr>
      </p:sp>
      <p:sp>
        <p:nvSpPr>
          <p:cNvPr id="3" name="Text 1"/>
          <p:cNvSpPr/>
          <p:nvPr/>
        </p:nvSpPr>
        <p:spPr>
          <a:xfrm>
            <a:off x="745809" y="604441"/>
            <a:ext cx="2160633" cy="129381"/>
          </a:xfrm>
          <a:prstGeom prst="rect">
            <a:avLst/>
          </a:prstGeom>
          <a:noFill/>
          <a:ln/>
        </p:spPr>
        <p:txBody>
          <a:bodyPr wrap="none" lIns="0" tIns="0" rIns="0" bIns="0" rtlCol="0" anchor="t"/>
          <a:lstStyle/>
          <a:p>
            <a:pPr algn="l" indent="0" marL="0">
              <a:lnSpc>
                <a:spcPct val="96000"/>
              </a:lnSpc>
              <a:buNone/>
            </a:pPr>
            <a:r>
              <a:rPr lang="en-US" sz="850" dirty="0">
                <a:solidFill>
                  <a:srgbClr val="2A2742"/>
                </a:solidFill>
                <a:latin typeface="Arimo" pitchFamily="34" charset="0"/>
                <a:ea typeface="Arimo" pitchFamily="34" charset="-122"/>
                <a:cs typeface="Arimo" pitchFamily="34" charset="-120"/>
              </a:rPr>
              <a:t>SEGMENT DIVERSIFICATION</a:t>
            </a:r>
            <a:endParaRPr lang="en-US" sz="850" dirty="0"/>
          </a:p>
        </p:txBody>
      </p:sp>
      <p:sp>
        <p:nvSpPr>
          <p:cNvPr id="4" name="Text 2"/>
          <p:cNvSpPr/>
          <p:nvPr/>
        </p:nvSpPr>
        <p:spPr>
          <a:xfrm>
            <a:off x="661475" y="823714"/>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231971"/>
                </a:solidFill>
                <a:latin typeface="Outfit ExtraBold" pitchFamily="34" charset="0"/>
                <a:ea typeface="Outfit ExtraBold" pitchFamily="34" charset="-122"/>
                <a:cs typeface="Outfit ExtraBold" pitchFamily="34" charset="-120"/>
              </a:rPr>
              <a:t>Diversification is improving, but it is not yet proven</a:t>
            </a:r>
            <a:endParaRPr lang="en-US" sz="2750" dirty="0"/>
          </a:p>
        </p:txBody>
      </p:sp>
      <p:pic>
        <p:nvPicPr>
          <p:cNvPr id="5" name="Image 0" descr="preencoded.png">    </p:cNvPr>
          <p:cNvPicPr>
            <a:picLocks noChangeAspect="1"/>
          </p:cNvPicPr>
          <p:nvPr/>
        </p:nvPicPr>
        <p:blipFill>
          <a:blip r:embed="rId1"/>
          <a:stretch>
            <a:fillRect/>
          </a:stretch>
        </p:blipFill>
        <p:spPr>
          <a:xfrm>
            <a:off x="661475" y="1576487"/>
            <a:ext cx="5823499" cy="4355604"/>
          </a:xfrm>
          <a:prstGeom prst="rect">
            <a:avLst/>
          </a:prstGeom>
        </p:spPr>
      </p:pic>
      <p:sp>
        <p:nvSpPr>
          <p:cNvPr id="6" name="Text 3"/>
          <p:cNvSpPr/>
          <p:nvPr/>
        </p:nvSpPr>
        <p:spPr>
          <a:xfrm>
            <a:off x="661475" y="6066433"/>
            <a:ext cx="5823499" cy="219571"/>
          </a:xfrm>
          <a:prstGeom prst="rect">
            <a:avLst/>
          </a:prstGeom>
          <a:noFill/>
          <a:ln/>
        </p:spPr>
        <p:txBody>
          <a:bodyPr wrap="none" lIns="0" tIns="0" rIns="0" bIns="0" rtlCol="0" anchor="t"/>
          <a:lstStyle/>
          <a:p>
            <a:pPr algn="l" indent="0" marL="0">
              <a:lnSpc>
                <a:spcPct val="104000"/>
              </a:lnSpc>
              <a:buNone/>
            </a:pPr>
            <a:r>
              <a:rPr lang="en-US" sz="1350" b="1" dirty="0">
                <a:solidFill>
                  <a:srgbClr val="231971"/>
                </a:solidFill>
                <a:latin typeface="Outfit Bold" pitchFamily="34" charset="0"/>
                <a:ea typeface="Outfit Bold" pitchFamily="34" charset="-122"/>
                <a:cs typeface="Outfit Bold" pitchFamily="34" charset="-120"/>
              </a:rPr>
              <a:t>                        </a:t>
            </a:r>
            <a:pPr algn="l" indent="0" marL="0">
              <a:lnSpc>
                <a:spcPct val="104000"/>
              </a:lnSpc>
              <a:buNone/>
            </a:pPr>
            <a:r>
              <a:rPr lang="en-US" sz="1350" dirty="0">
                <a:solidFill>
                  <a:srgbClr val="231971"/>
                </a:solidFill>
                <a:latin typeface="Outfit ExtraBold" pitchFamily="34" charset="0"/>
                <a:ea typeface="Outfit ExtraBold" pitchFamily="34" charset="-122"/>
                <a:cs typeface="Outfit ExtraBold" pitchFamily="34" charset="-120"/>
              </a:rPr>
              <a:t>Q1 2026 Share of Reported Segment Net Revenue</a:t>
            </a:r>
            <a:endParaRPr lang="en-US" sz="1350" dirty="0"/>
          </a:p>
        </p:txBody>
      </p:sp>
      <p:sp>
        <p:nvSpPr>
          <p:cNvPr id="7" name="Text 4"/>
          <p:cNvSpPr/>
          <p:nvPr/>
        </p:nvSpPr>
        <p:spPr>
          <a:xfrm>
            <a:off x="6834215" y="1561604"/>
            <a:ext cx="4702256" cy="219571"/>
          </a:xfrm>
          <a:prstGeom prst="rect">
            <a:avLst/>
          </a:prstGeom>
          <a:noFill/>
          <a:ln/>
        </p:spPr>
        <p:txBody>
          <a:bodyPr wrap="none" lIns="0" tIns="0" rIns="0" bIns="0" rtlCol="0" anchor="t"/>
          <a:lstStyle/>
          <a:p>
            <a:pPr algn="l" indent="0" marL="0">
              <a:lnSpc>
                <a:spcPct val="104000"/>
              </a:lnSpc>
              <a:buNone/>
            </a:pPr>
            <a:r>
              <a:rPr lang="en-US" sz="1350" dirty="0">
                <a:solidFill>
                  <a:srgbClr val="231971"/>
                </a:solidFill>
                <a:latin typeface="Outfit ExtraBold" pitchFamily="34" charset="0"/>
                <a:ea typeface="Outfit ExtraBold" pitchFamily="34" charset="-122"/>
                <a:cs typeface="Outfit ExtraBold" pitchFamily="34" charset="-120"/>
              </a:rPr>
              <a:t>Segment-Level Commentary</a:t>
            </a:r>
            <a:endParaRPr lang="en-US" sz="1350" dirty="0"/>
          </a:p>
        </p:txBody>
      </p:sp>
      <p:sp>
        <p:nvSpPr>
          <p:cNvPr id="8" name="Shape 5"/>
          <p:cNvSpPr/>
          <p:nvPr/>
        </p:nvSpPr>
        <p:spPr>
          <a:xfrm>
            <a:off x="6992366" y="1915517"/>
            <a:ext cx="19050" cy="3304381"/>
          </a:xfrm>
          <a:prstGeom prst="roundRect">
            <a:avLst>
              <a:gd name="adj" fmla="val 49999"/>
            </a:avLst>
          </a:prstGeom>
          <a:solidFill>
            <a:srgbClr val="B2DCE5"/>
          </a:solidFill>
          <a:ln/>
        </p:spPr>
      </p:sp>
      <p:sp>
        <p:nvSpPr>
          <p:cNvPr id="9" name="Shape 6"/>
          <p:cNvSpPr/>
          <p:nvPr/>
        </p:nvSpPr>
        <p:spPr>
          <a:xfrm>
            <a:off x="7131467" y="2064147"/>
            <a:ext cx="421669" cy="19050"/>
          </a:xfrm>
          <a:prstGeom prst="roundRect">
            <a:avLst>
              <a:gd name="adj" fmla="val 49999"/>
            </a:avLst>
          </a:prstGeom>
          <a:solidFill>
            <a:srgbClr val="B2DCE5"/>
          </a:solidFill>
          <a:ln/>
        </p:spPr>
      </p:sp>
      <p:sp>
        <p:nvSpPr>
          <p:cNvPr id="10" name="Shape 7"/>
          <p:cNvSpPr/>
          <p:nvPr/>
        </p:nvSpPr>
        <p:spPr>
          <a:xfrm>
            <a:off x="6834215" y="1915517"/>
            <a:ext cx="316301" cy="316309"/>
          </a:xfrm>
          <a:prstGeom prst="roundRect">
            <a:avLst>
              <a:gd name="adj" fmla="val 18667"/>
            </a:avLst>
          </a:prstGeom>
          <a:solidFill>
            <a:srgbClr val="E3F8FD"/>
          </a:solidFill>
          <a:ln w="6350">
            <a:solidFill>
              <a:srgbClr val="B2DCE5"/>
            </a:solidFill>
            <a:prstDash val="solid"/>
          </a:ln>
        </p:spPr>
      </p:sp>
      <p:sp>
        <p:nvSpPr>
          <p:cNvPr id="11" name="Text 8"/>
          <p:cNvSpPr/>
          <p:nvPr/>
        </p:nvSpPr>
        <p:spPr>
          <a:xfrm>
            <a:off x="6886948" y="1941909"/>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2A2742"/>
                </a:solidFill>
                <a:latin typeface="Outfit ExtraBold" pitchFamily="34" charset="0"/>
                <a:ea typeface="Outfit ExtraBold" pitchFamily="34" charset="-122"/>
                <a:cs typeface="Outfit ExtraBold" pitchFamily="34" charset="-120"/>
              </a:rPr>
              <a:t>1</a:t>
            </a:r>
            <a:endParaRPr lang="en-US" sz="1650" dirty="0"/>
          </a:p>
        </p:txBody>
      </p:sp>
      <p:sp>
        <p:nvSpPr>
          <p:cNvPr id="12" name="Text 9"/>
          <p:cNvSpPr/>
          <p:nvPr/>
        </p:nvSpPr>
        <p:spPr>
          <a:xfrm>
            <a:off x="7695214" y="1963837"/>
            <a:ext cx="3841257" cy="219571"/>
          </a:xfrm>
          <a:prstGeom prst="rect">
            <a:avLst/>
          </a:prstGeom>
          <a:noFill/>
          <a:ln/>
        </p:spPr>
        <p:txBody>
          <a:bodyPr wrap="none" lIns="0" tIns="0" rIns="0" bIns="0" rtlCol="0" anchor="t"/>
          <a:lstStyle/>
          <a:p>
            <a:pPr algn="l"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Lending — 56.1%</a:t>
            </a:r>
            <a:endParaRPr lang="en-US" sz="1350" dirty="0"/>
          </a:p>
        </p:txBody>
      </p:sp>
      <p:sp>
        <p:nvSpPr>
          <p:cNvPr id="13" name="Text 10"/>
          <p:cNvSpPr/>
          <p:nvPr/>
        </p:nvSpPr>
        <p:spPr>
          <a:xfrm>
            <a:off x="7695214" y="2302867"/>
            <a:ext cx="3841257"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A2742"/>
                </a:solidFill>
                <a:latin typeface="Arimo" pitchFamily="34" charset="0"/>
                <a:ea typeface="Arimo" pitchFamily="34" charset="-122"/>
                <a:cs typeface="Arimo" pitchFamily="34" charset="-120"/>
              </a:rPr>
              <a:t>Core business; strong performance. Lending remains the largest revenue contributor, so concentration remains an important diversification consideration.</a:t>
            </a:r>
            <a:endParaRPr lang="en-US" sz="1100" dirty="0"/>
          </a:p>
        </p:txBody>
      </p:sp>
      <p:sp>
        <p:nvSpPr>
          <p:cNvPr id="14" name="Shape 11"/>
          <p:cNvSpPr/>
          <p:nvPr/>
        </p:nvSpPr>
        <p:spPr>
          <a:xfrm>
            <a:off x="7131467" y="3314601"/>
            <a:ext cx="421669" cy="19050"/>
          </a:xfrm>
          <a:prstGeom prst="roundRect">
            <a:avLst>
              <a:gd name="adj" fmla="val 49999"/>
            </a:avLst>
          </a:prstGeom>
          <a:solidFill>
            <a:srgbClr val="B2DCE5"/>
          </a:solidFill>
          <a:ln/>
        </p:spPr>
      </p:sp>
      <p:sp>
        <p:nvSpPr>
          <p:cNvPr id="15" name="Shape 12"/>
          <p:cNvSpPr/>
          <p:nvPr/>
        </p:nvSpPr>
        <p:spPr>
          <a:xfrm>
            <a:off x="6834215" y="3165971"/>
            <a:ext cx="316301" cy="316309"/>
          </a:xfrm>
          <a:prstGeom prst="roundRect">
            <a:avLst>
              <a:gd name="adj" fmla="val 18667"/>
            </a:avLst>
          </a:prstGeom>
          <a:solidFill>
            <a:srgbClr val="E3F8FD"/>
          </a:solidFill>
          <a:ln w="6350">
            <a:solidFill>
              <a:srgbClr val="B2DCE5"/>
            </a:solidFill>
            <a:prstDash val="solid"/>
          </a:ln>
        </p:spPr>
      </p:sp>
      <p:sp>
        <p:nvSpPr>
          <p:cNvPr id="16" name="Text 13"/>
          <p:cNvSpPr/>
          <p:nvPr/>
        </p:nvSpPr>
        <p:spPr>
          <a:xfrm>
            <a:off x="6886948" y="3192363"/>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2A2742"/>
                </a:solidFill>
                <a:latin typeface="Outfit ExtraBold" pitchFamily="34" charset="0"/>
                <a:ea typeface="Outfit ExtraBold" pitchFamily="34" charset="-122"/>
                <a:cs typeface="Outfit ExtraBold" pitchFamily="34" charset="-120"/>
              </a:rPr>
              <a:t>2</a:t>
            </a:r>
            <a:endParaRPr lang="en-US" sz="1650" dirty="0"/>
          </a:p>
        </p:txBody>
      </p:sp>
      <p:sp>
        <p:nvSpPr>
          <p:cNvPr id="17" name="Text 14"/>
          <p:cNvSpPr/>
          <p:nvPr/>
        </p:nvSpPr>
        <p:spPr>
          <a:xfrm>
            <a:off x="7695214" y="3214291"/>
            <a:ext cx="3841257" cy="219571"/>
          </a:xfrm>
          <a:prstGeom prst="rect">
            <a:avLst/>
          </a:prstGeom>
          <a:noFill/>
          <a:ln/>
        </p:spPr>
        <p:txBody>
          <a:bodyPr wrap="none" lIns="0" tIns="0" rIns="0" bIns="0" rtlCol="0" anchor="t"/>
          <a:lstStyle/>
          <a:p>
            <a:pPr algn="l"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Financial Services — 37.4%</a:t>
            </a:r>
            <a:endParaRPr lang="en-US" sz="1350" dirty="0"/>
          </a:p>
        </p:txBody>
      </p:sp>
      <p:sp>
        <p:nvSpPr>
          <p:cNvPr id="18" name="Text 15"/>
          <p:cNvSpPr/>
          <p:nvPr/>
        </p:nvSpPr>
        <p:spPr>
          <a:xfrm>
            <a:off x="7695214" y="3553321"/>
            <a:ext cx="384125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A2742"/>
                </a:solidFill>
                <a:latin typeface="Arimo" pitchFamily="34" charset="0"/>
                <a:ea typeface="Arimo" pitchFamily="34" charset="-122"/>
                <a:cs typeface="Arimo" pitchFamily="34" charset="-120"/>
              </a:rPr>
              <a:t>Becoming increasingly meaningful. Financial Services is the strongest positive diversification signal in Q1 2026.</a:t>
            </a:r>
            <a:endParaRPr lang="en-US" sz="1100" dirty="0"/>
          </a:p>
        </p:txBody>
      </p:sp>
      <p:sp>
        <p:nvSpPr>
          <p:cNvPr id="19" name="Shape 16"/>
          <p:cNvSpPr/>
          <p:nvPr/>
        </p:nvSpPr>
        <p:spPr>
          <a:xfrm>
            <a:off x="7131467" y="4356993"/>
            <a:ext cx="421669" cy="19050"/>
          </a:xfrm>
          <a:prstGeom prst="roundRect">
            <a:avLst>
              <a:gd name="adj" fmla="val 49999"/>
            </a:avLst>
          </a:prstGeom>
          <a:solidFill>
            <a:srgbClr val="B2DCE5"/>
          </a:solidFill>
          <a:ln/>
        </p:spPr>
      </p:sp>
      <p:sp>
        <p:nvSpPr>
          <p:cNvPr id="20" name="Shape 17"/>
          <p:cNvSpPr/>
          <p:nvPr/>
        </p:nvSpPr>
        <p:spPr>
          <a:xfrm>
            <a:off x="6834215" y="4208363"/>
            <a:ext cx="316301" cy="316309"/>
          </a:xfrm>
          <a:prstGeom prst="roundRect">
            <a:avLst>
              <a:gd name="adj" fmla="val 18667"/>
            </a:avLst>
          </a:prstGeom>
          <a:solidFill>
            <a:srgbClr val="E3F8FD"/>
          </a:solidFill>
          <a:ln w="6350">
            <a:solidFill>
              <a:srgbClr val="B2DCE5"/>
            </a:solidFill>
            <a:prstDash val="solid"/>
          </a:ln>
        </p:spPr>
      </p:sp>
      <p:sp>
        <p:nvSpPr>
          <p:cNvPr id="21" name="Text 18"/>
          <p:cNvSpPr/>
          <p:nvPr/>
        </p:nvSpPr>
        <p:spPr>
          <a:xfrm>
            <a:off x="6886948" y="4234755"/>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2A2742"/>
                </a:solidFill>
                <a:latin typeface="Outfit ExtraBold" pitchFamily="34" charset="0"/>
                <a:ea typeface="Outfit ExtraBold" pitchFamily="34" charset="-122"/>
                <a:cs typeface="Outfit ExtraBold" pitchFamily="34" charset="-120"/>
              </a:rPr>
              <a:t>3</a:t>
            </a:r>
            <a:endParaRPr lang="en-US" sz="1650" dirty="0"/>
          </a:p>
        </p:txBody>
      </p:sp>
      <p:sp>
        <p:nvSpPr>
          <p:cNvPr id="22" name="Text 19"/>
          <p:cNvSpPr/>
          <p:nvPr/>
        </p:nvSpPr>
        <p:spPr>
          <a:xfrm>
            <a:off x="7695214" y="4256683"/>
            <a:ext cx="3841257" cy="219571"/>
          </a:xfrm>
          <a:prstGeom prst="rect">
            <a:avLst/>
          </a:prstGeom>
          <a:noFill/>
          <a:ln/>
        </p:spPr>
        <p:txBody>
          <a:bodyPr wrap="none" lIns="0" tIns="0" rIns="0" bIns="0" rtlCol="0" anchor="t"/>
          <a:lstStyle/>
          <a:p>
            <a:pPr algn="l" indent="0" marL="0">
              <a:lnSpc>
                <a:spcPct val="104000"/>
              </a:lnSpc>
              <a:buNone/>
            </a:pPr>
            <a:r>
              <a:rPr lang="en-US" sz="1350" dirty="0">
                <a:solidFill>
                  <a:srgbClr val="2A2742"/>
                </a:solidFill>
                <a:latin typeface="Outfit ExtraBold" pitchFamily="34" charset="0"/>
                <a:ea typeface="Outfit ExtraBold" pitchFamily="34" charset="-122"/>
                <a:cs typeface="Outfit ExtraBold" pitchFamily="34" charset="-120"/>
              </a:rPr>
              <a:t>Technology Platform — 6.6% (~$75.1M)</a:t>
            </a:r>
            <a:endParaRPr lang="en-US" sz="1350" dirty="0"/>
          </a:p>
        </p:txBody>
      </p:sp>
      <p:sp>
        <p:nvSpPr>
          <p:cNvPr id="23" name="Text 20"/>
          <p:cNvSpPr/>
          <p:nvPr/>
        </p:nvSpPr>
        <p:spPr>
          <a:xfrm>
            <a:off x="7695214" y="4595713"/>
            <a:ext cx="3841257" cy="624185"/>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1A3A52"/>
                </a:solidFill>
                <a:latin typeface="Arimo Bold" pitchFamily="34" charset="0"/>
                <a:ea typeface="Arimo Bold" pitchFamily="34" charset="-122"/>
                <a:cs typeface="Arimo Bold" pitchFamily="34" charset="-120"/>
              </a:rPr>
              <a:t>-27% YoY.</a:t>
            </a:r>
            <a:pPr algn="l" indent="0" marL="0">
              <a:lnSpc>
                <a:spcPct val="123000"/>
              </a:lnSpc>
              <a:buNone/>
            </a:pPr>
            <a:r>
              <a:rPr lang="en-US" sz="1100" dirty="0">
                <a:solidFill>
                  <a:srgbClr val="2A2742"/>
                </a:solidFill>
                <a:latin typeface="Arimo" pitchFamily="34" charset="0"/>
                <a:ea typeface="Arimo" pitchFamily="34" charset="-122"/>
                <a:cs typeface="Arimo" pitchFamily="34" charset="-120"/>
              </a:rPr>
              <a:t> Contribution margin: 16%. Technology Platform should currently be treated as a recovery lever rather than evidence of completed diversification.</a:t>
            </a:r>
            <a:endParaRPr lang="en-US" sz="1100" dirty="0"/>
          </a:p>
        </p:txBody>
      </p:sp>
      <p:sp>
        <p:nvSpPr>
          <p:cNvPr id="24" name="Shape 21"/>
          <p:cNvSpPr/>
          <p:nvPr/>
        </p:nvSpPr>
        <p:spPr>
          <a:xfrm>
            <a:off x="6834215" y="5354241"/>
            <a:ext cx="4702256" cy="909340"/>
          </a:xfrm>
          <a:prstGeom prst="roundRect">
            <a:avLst>
              <a:gd name="adj" fmla="val 6493"/>
            </a:avLst>
          </a:prstGeom>
          <a:solidFill>
            <a:srgbClr val="CCF6FF"/>
          </a:solidFill>
          <a:ln/>
        </p:spPr>
      </p:sp>
      <p:pic>
        <p:nvPicPr>
          <p:cNvPr id="25" name="Image 1" descr="preencoded.png">    </p:cNvPr>
          <p:cNvPicPr>
            <a:picLocks noChangeAspect="1"/>
          </p:cNvPicPr>
          <p:nvPr/>
        </p:nvPicPr>
        <p:blipFill>
          <a:blip r:embed="rId2"/>
          <a:stretch>
            <a:fillRect/>
          </a:stretch>
        </p:blipFill>
        <p:spPr>
          <a:xfrm>
            <a:off x="6974705" y="5531941"/>
            <a:ext cx="175712" cy="140494"/>
          </a:xfrm>
          <a:prstGeom prst="rect">
            <a:avLst/>
          </a:prstGeom>
        </p:spPr>
      </p:pic>
      <p:sp>
        <p:nvSpPr>
          <p:cNvPr id="26" name="Text 22"/>
          <p:cNvSpPr/>
          <p:nvPr/>
        </p:nvSpPr>
        <p:spPr>
          <a:xfrm>
            <a:off x="7290907" y="5496818"/>
            <a:ext cx="4105073"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Financial Services strengthens the diversification case, while Technology Platform weakness limits the strength of that conclusion.</a:t>
            </a:r>
            <a:endParaRPr lang="en-US" sz="1100" dirty="0"/>
          </a:p>
        </p:txBody>
      </p:sp>
      <p:pic>
        <p:nvPicPr>
          <p:cNvPr id="27" name="Image 2" descr="preencoded.png">    </p:cNvPr>
          <p:cNvPicPr>
            <a:picLocks noChangeAspect="1"/>
          </p:cNvPicPr>
          <p:nvPr/>
        </p:nvPicPr>
        <p:blipFill>
          <a:blip r:embed="rId3"/>
          <a:stretch>
            <a:fillRect/>
          </a:stretch>
        </p:blipFill>
        <p:spPr>
          <a:xfrm>
            <a:off x="115686" y="130473"/>
            <a:ext cx="575752" cy="3013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663873"/>
            <a:ext cx="1532991" cy="238820"/>
          </a:xfrm>
          <a:prstGeom prst="roundRect">
            <a:avLst>
              <a:gd name="adj" fmla="val 22106"/>
            </a:avLst>
          </a:prstGeom>
          <a:solidFill>
            <a:srgbClr val="CCF6FF"/>
          </a:solidFill>
          <a:ln/>
        </p:spPr>
      </p:sp>
      <p:sp>
        <p:nvSpPr>
          <p:cNvPr id="3" name="Text 1"/>
          <p:cNvSpPr/>
          <p:nvPr/>
        </p:nvSpPr>
        <p:spPr>
          <a:xfrm>
            <a:off x="755730" y="711002"/>
            <a:ext cx="1954064" cy="144562"/>
          </a:xfrm>
          <a:prstGeom prst="rect">
            <a:avLst/>
          </a:prstGeom>
          <a:noFill/>
          <a:ln/>
        </p:spPr>
        <p:txBody>
          <a:bodyPr wrap="none" lIns="0" tIns="0" rIns="0" bIns="0" rtlCol="0" anchor="t"/>
          <a:lstStyle/>
          <a:p>
            <a:pPr algn="l" indent="0" marL="0">
              <a:lnSpc>
                <a:spcPct val="96000"/>
              </a:lnSpc>
              <a:buNone/>
            </a:pPr>
            <a:r>
              <a:rPr lang="en-US" sz="950" dirty="0">
                <a:solidFill>
                  <a:srgbClr val="2A2742"/>
                </a:solidFill>
                <a:latin typeface="Arimo" pitchFamily="34" charset="0"/>
                <a:ea typeface="Arimo" pitchFamily="34" charset="-122"/>
                <a:cs typeface="Arimo" pitchFamily="34" charset="-120"/>
              </a:rPr>
              <a:t>CUSTOMER FRICTION</a:t>
            </a:r>
            <a:endParaRPr lang="en-US" sz="950" dirty="0"/>
          </a:p>
        </p:txBody>
      </p:sp>
      <p:sp>
        <p:nvSpPr>
          <p:cNvPr id="4" name="Text 2"/>
          <p:cNvSpPr/>
          <p:nvPr/>
        </p:nvSpPr>
        <p:spPr>
          <a:xfrm>
            <a:off x="661475" y="962323"/>
            <a:ext cx="10868745" cy="981869"/>
          </a:xfrm>
          <a:prstGeom prst="rect">
            <a:avLst/>
          </a:prstGeom>
          <a:noFill/>
          <a:ln/>
        </p:spPr>
        <p:txBody>
          <a:bodyPr wrap="square" lIns="0" tIns="0" rIns="0" bIns="0" rtlCol="0" anchor="t">
            <a:normAutofit/>
          </a:bodyPr>
          <a:lstStyle/>
          <a:p>
            <a:pPr algn="l" indent="0" marL="0">
              <a:lnSpc>
                <a:spcPct val="104000"/>
              </a:lnSpc>
              <a:buNone/>
            </a:pPr>
            <a:r>
              <a:rPr lang="en-US" sz="3050" dirty="0">
                <a:solidFill>
                  <a:srgbClr val="231971"/>
                </a:solidFill>
                <a:latin typeface="Outfit ExtraBold" pitchFamily="34" charset="0"/>
                <a:ea typeface="Outfit ExtraBold" pitchFamily="34" charset="-122"/>
                <a:cs typeface="Outfit ExtraBold" pitchFamily="34" charset="-120"/>
              </a:rPr>
              <a:t>Public customer-friction signals are concentrated, but normalized intensity has not materially worsened</a:t>
            </a:r>
            <a:endParaRPr lang="en-US" sz="3050" dirty="0"/>
          </a:p>
        </p:txBody>
      </p:sp>
      <p:sp>
        <p:nvSpPr>
          <p:cNvPr id="5" name="Shape 3"/>
          <p:cNvSpPr/>
          <p:nvPr/>
        </p:nvSpPr>
        <p:spPr>
          <a:xfrm>
            <a:off x="548269" y="2168029"/>
            <a:ext cx="3781231" cy="4133453"/>
          </a:xfrm>
          <a:prstGeom prst="roundRect">
            <a:avLst>
              <a:gd name="adj" fmla="val 2992"/>
            </a:avLst>
          </a:prstGeom>
          <a:solidFill>
            <a:srgbClr val="231971">
              <a:alpha val="95000"/>
            </a:srgbClr>
          </a:solidFill>
          <a:ln/>
        </p:spPr>
      </p:sp>
      <p:sp>
        <p:nvSpPr>
          <p:cNvPr id="6" name="Text 4"/>
          <p:cNvSpPr/>
          <p:nvPr/>
        </p:nvSpPr>
        <p:spPr>
          <a:xfrm>
            <a:off x="705328" y="2317254"/>
            <a:ext cx="3467112" cy="245566"/>
          </a:xfrm>
          <a:prstGeom prst="rect">
            <a:avLst/>
          </a:prstGeom>
          <a:noFill/>
          <a:ln/>
        </p:spPr>
        <p:txBody>
          <a:bodyPr wrap="none" lIns="0" tIns="0" rIns="0" bIns="0" rtlCol="0" anchor="t"/>
          <a:lstStyle/>
          <a:p>
            <a:pPr algn="l" indent="0" marL="0">
              <a:lnSpc>
                <a:spcPct val="104000"/>
              </a:lnSpc>
              <a:buNone/>
            </a:pPr>
            <a:r>
              <a:rPr lang="en-US" sz="1500" dirty="0">
                <a:solidFill>
                  <a:srgbClr val="FFFFFF"/>
                </a:solidFill>
                <a:latin typeface="Outfit ExtraBold" pitchFamily="34" charset="0"/>
                <a:ea typeface="Outfit ExtraBold" pitchFamily="34" charset="-122"/>
                <a:cs typeface="Outfit ExtraBold" pitchFamily="34" charset="-120"/>
              </a:rPr>
              <a:t>CFPB Complaint Data</a:t>
            </a:r>
            <a:endParaRPr lang="en-US" sz="1500" dirty="0"/>
          </a:p>
        </p:txBody>
      </p:sp>
      <p:sp>
        <p:nvSpPr>
          <p:cNvPr id="7" name="Text 5"/>
          <p:cNvSpPr/>
          <p:nvPr/>
        </p:nvSpPr>
        <p:spPr>
          <a:xfrm>
            <a:off x="705328" y="2712045"/>
            <a:ext cx="3467112" cy="2609552"/>
          </a:xfrm>
          <a:prstGeom prst="rect">
            <a:avLst/>
          </a:prstGeom>
          <a:noFill/>
          <a:ln/>
        </p:spPr>
        <p:txBody>
          <a:bodyPr wrap="square" lIns="0" tIns="0" rIns="0" bIns="0" rtlCol="0" anchor="t"/>
          <a:lstStyle/>
          <a:p>
            <a:pPr algn="l" indent="0" marL="0">
              <a:lnSpc>
                <a:spcPct val="130000"/>
              </a:lnSpc>
              <a:spcAft>
                <a:spcPts val="1050"/>
              </a:spcAft>
              <a:buNone/>
            </a:pPr>
            <a:r>
              <a:rPr lang="en-US" sz="1200" b="1" dirty="0">
                <a:solidFill>
                  <a:srgbClr val="FFFFFF"/>
                </a:solidFill>
                <a:latin typeface="Arimo Bold" pitchFamily="34" charset="0"/>
                <a:ea typeface="Arimo Bold" pitchFamily="34" charset="-122"/>
                <a:cs typeface="Arimo Bold" pitchFamily="34" charset="-120"/>
              </a:rPr>
              <a:t>Total Complaints:</a:t>
            </a:r>
            <a:pPr algn="l" indent="0" marL="0">
              <a:lnSpc>
                <a:spcPct val="130000"/>
              </a:lnSpc>
              <a:spcAft>
                <a:spcPts val="1050"/>
              </a:spcAft>
              <a:buNone/>
            </a:pPr>
            <a:r>
              <a:rPr lang="en-US" sz="1200" dirty="0">
                <a:solidFill>
                  <a:srgbClr val="FFFFFF"/>
                </a:solidFill>
                <a:latin typeface="Arimo" pitchFamily="34" charset="0"/>
                <a:ea typeface="Arimo" pitchFamily="34" charset="-122"/>
                <a:cs typeface="Arimo" pitchFamily="34" charset="-120"/>
              </a:rPr>
              <a:t> 4,724</a:t>
            </a:r>
            <a:endParaRPr lang="en-US" sz="1200" dirty="0"/>
          </a:p>
          <a:p>
            <a:pPr algn="l" indent="0" marL="0">
              <a:lnSpc>
                <a:spcPct val="130000"/>
              </a:lnSpc>
              <a:spcAft>
                <a:spcPts val="1050"/>
              </a:spcAft>
              <a:buNone/>
            </a:pPr>
            <a:r>
              <a:rPr lang="en-US" sz="1200" b="1" dirty="0">
                <a:solidFill>
                  <a:srgbClr val="FFFFFF"/>
                </a:solidFill>
                <a:latin typeface="Arimo Bold" pitchFamily="34" charset="0"/>
                <a:ea typeface="Arimo Bold" pitchFamily="34" charset="-122"/>
                <a:cs typeface="Arimo Bold" pitchFamily="34" charset="-120"/>
              </a:rPr>
              <a:t>Normalized Intensity:</a:t>
            </a:r>
            <a:pPr algn="l" indent="0" marL="0">
              <a:lnSpc>
                <a:spcPct val="130000"/>
              </a:lnSpc>
              <a:spcAft>
                <a:spcPts val="1050"/>
              </a:spcAft>
              <a:buNone/>
            </a:pPr>
            <a:r>
              <a:rPr lang="en-US" sz="1200" dirty="0">
                <a:solidFill>
                  <a:srgbClr val="FFFFFF"/>
                </a:solidFill>
                <a:latin typeface="Arimo" pitchFamily="34" charset="0"/>
                <a:ea typeface="Arimo" pitchFamily="34" charset="-122"/>
                <a:cs typeface="Arimo" pitchFamily="34" charset="-120"/>
              </a:rPr>
              <a:t> 58.30 per million members</a:t>
            </a:r>
            <a:endParaRPr lang="en-US" sz="1200" dirty="0"/>
          </a:p>
          <a:p>
            <a:pPr algn="l" indent="0" marL="0">
              <a:lnSpc>
                <a:spcPct val="130000"/>
              </a:lnSpc>
              <a:spcAft>
                <a:spcPts val="1050"/>
              </a:spcAft>
              <a:buNone/>
            </a:pPr>
            <a:r>
              <a:rPr lang="en-US" sz="1200" b="1" dirty="0">
                <a:solidFill>
                  <a:srgbClr val="FFFFFF"/>
                </a:solidFill>
                <a:latin typeface="Arimo Bold" pitchFamily="34" charset="0"/>
                <a:ea typeface="Arimo Bold" pitchFamily="34" charset="-122"/>
                <a:cs typeface="Arimo Bold" pitchFamily="34" charset="-120"/>
              </a:rPr>
              <a:t>Checking/Savings Concentration:</a:t>
            </a:r>
            <a:pPr algn="l" indent="0" marL="0">
              <a:lnSpc>
                <a:spcPct val="130000"/>
              </a:lnSpc>
              <a:spcAft>
                <a:spcPts val="1050"/>
              </a:spcAft>
              <a:buNone/>
            </a:pPr>
            <a:r>
              <a:rPr lang="en-US" sz="1200" dirty="0">
                <a:solidFill>
                  <a:srgbClr val="FFFFFF"/>
                </a:solidFill>
                <a:latin typeface="Arimo" pitchFamily="34" charset="0"/>
                <a:ea typeface="Arimo" pitchFamily="34" charset="-122"/>
                <a:cs typeface="Arimo" pitchFamily="34" charset="-120"/>
              </a:rPr>
              <a:t> 65.6% of all complaints</a:t>
            </a:r>
            <a:endParaRPr lang="en-US" sz="1200" dirty="0"/>
          </a:p>
          <a:p>
            <a:pPr algn="l" indent="0" marL="0">
              <a:lnSpc>
                <a:spcPct val="130000"/>
              </a:lnSpc>
              <a:buNone/>
            </a:pPr>
            <a:r>
              <a:rPr lang="en-US" sz="1200" b="1" dirty="0">
                <a:solidFill>
                  <a:srgbClr val="FFFFFF"/>
                </a:solidFill>
                <a:latin typeface="Arimo Bold" pitchFamily="34" charset="0"/>
                <a:ea typeface="Arimo Bold" pitchFamily="34" charset="-122"/>
                <a:cs typeface="Arimo Bold" pitchFamily="34" charset="-120"/>
              </a:rPr>
              <a:t>Methodology Note:</a:t>
            </a:r>
            <a:pPr algn="l" indent="0" marL="0">
              <a:lnSpc>
                <a:spcPct val="130000"/>
              </a:lnSpc>
              <a:buNone/>
            </a:pPr>
            <a:r>
              <a:rPr lang="en-US" sz="1200" dirty="0">
                <a:solidFill>
                  <a:srgbClr val="FFFFFF"/>
                </a:solidFill>
                <a:latin typeface="Arimo" pitchFamily="34" charset="0"/>
                <a:ea typeface="Arimo" pitchFamily="34" charset="-122"/>
                <a:cs typeface="Arimo" pitchFamily="34" charset="-120"/>
              </a:rPr>
              <a:t> CFPB complaint data is an external public proxy for customer friction, not internal SoFi support data or a complete measure of customer experience quality.</a:t>
            </a:r>
            <a:endParaRPr lang="en-US" sz="1200" dirty="0"/>
          </a:p>
        </p:txBody>
      </p:sp>
      <p:sp>
        <p:nvSpPr>
          <p:cNvPr id="8" name="Text 6"/>
          <p:cNvSpPr/>
          <p:nvPr/>
        </p:nvSpPr>
        <p:spPr>
          <a:xfrm>
            <a:off x="4606016" y="2317254"/>
            <a:ext cx="6930455" cy="245566"/>
          </a:xfrm>
          <a:prstGeom prst="rect">
            <a:avLst/>
          </a:prstGeom>
          <a:noFill/>
          <a:ln/>
        </p:spPr>
        <p:txBody>
          <a:bodyPr wrap="none" lIns="0" tIns="0" rIns="0" bIns="0" rtlCol="0" anchor="t"/>
          <a:lstStyle/>
          <a:p>
            <a:pPr algn="l" indent="0" marL="0">
              <a:lnSpc>
                <a:spcPct val="104000"/>
              </a:lnSpc>
              <a:buNone/>
            </a:pPr>
            <a:r>
              <a:rPr lang="en-US" sz="1500" dirty="0">
                <a:solidFill>
                  <a:srgbClr val="231971"/>
                </a:solidFill>
                <a:latin typeface="Outfit ExtraBold" pitchFamily="34" charset="0"/>
                <a:ea typeface="Outfit ExtraBold" pitchFamily="34" charset="-122"/>
                <a:cs typeface="Outfit ExtraBold" pitchFamily="34" charset="-120"/>
              </a:rPr>
              <a:t>Two-Part Analytical Reading</a:t>
            </a:r>
            <a:endParaRPr lang="en-US" sz="1500" dirty="0"/>
          </a:p>
        </p:txBody>
      </p:sp>
      <p:sp>
        <p:nvSpPr>
          <p:cNvPr id="9" name="Shape 7"/>
          <p:cNvSpPr/>
          <p:nvPr/>
        </p:nvSpPr>
        <p:spPr>
          <a:xfrm>
            <a:off x="4723786" y="2730698"/>
            <a:ext cx="19050" cy="3402905"/>
          </a:xfrm>
          <a:prstGeom prst="roundRect">
            <a:avLst>
              <a:gd name="adj" fmla="val 49999"/>
            </a:avLst>
          </a:prstGeom>
          <a:solidFill>
            <a:srgbClr val="B2DCE5"/>
          </a:solidFill>
          <a:ln/>
        </p:spPr>
      </p:sp>
      <p:sp>
        <p:nvSpPr>
          <p:cNvPr id="10" name="Shape 8"/>
          <p:cNvSpPr/>
          <p:nvPr/>
        </p:nvSpPr>
        <p:spPr>
          <a:xfrm>
            <a:off x="4704736" y="2897882"/>
            <a:ext cx="314218" cy="19050"/>
          </a:xfrm>
          <a:prstGeom prst="roundRect">
            <a:avLst>
              <a:gd name="adj" fmla="val 49999"/>
            </a:avLst>
          </a:prstGeom>
          <a:solidFill>
            <a:srgbClr val="B2DCE5"/>
          </a:solidFill>
          <a:ln/>
        </p:spPr>
      </p:sp>
      <p:sp>
        <p:nvSpPr>
          <p:cNvPr id="11" name="Shape 9"/>
          <p:cNvSpPr/>
          <p:nvPr/>
        </p:nvSpPr>
        <p:spPr>
          <a:xfrm>
            <a:off x="4664901" y="2848521"/>
            <a:ext cx="117770" cy="117773"/>
          </a:xfrm>
          <a:prstGeom prst="ellipse">
            <a:avLst/>
          </a:prstGeom>
          <a:solidFill>
            <a:srgbClr val="00B3D9"/>
          </a:solidFill>
          <a:ln/>
        </p:spPr>
      </p:sp>
      <p:sp>
        <p:nvSpPr>
          <p:cNvPr id="12" name="Text 10"/>
          <p:cNvSpPr/>
          <p:nvPr/>
        </p:nvSpPr>
        <p:spPr>
          <a:xfrm>
            <a:off x="5352321" y="2784673"/>
            <a:ext cx="6184150" cy="491133"/>
          </a:xfrm>
          <a:prstGeom prst="rect">
            <a:avLst/>
          </a:prstGeom>
          <a:noFill/>
          <a:ln/>
        </p:spPr>
        <p:txBody>
          <a:bodyPr wrap="square" lIns="0" tIns="0" rIns="0" bIns="0" rtlCol="0" anchor="t">
            <a:normAutofit/>
          </a:bodyPr>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Raw Volume Rose with Scale — Normalized Intensity Did Not Materially Worsen</a:t>
            </a:r>
            <a:endParaRPr lang="en-US" sz="1500" dirty="0"/>
          </a:p>
        </p:txBody>
      </p:sp>
      <p:sp>
        <p:nvSpPr>
          <p:cNvPr id="13" name="Text 11"/>
          <p:cNvSpPr/>
          <p:nvPr/>
        </p:nvSpPr>
        <p:spPr>
          <a:xfrm>
            <a:off x="5352321" y="3425031"/>
            <a:ext cx="6184150"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A2742"/>
                </a:solidFill>
                <a:latin typeface="Arimo" pitchFamily="34" charset="0"/>
                <a:ea typeface="Arimo" pitchFamily="34" charset="-122"/>
                <a:cs typeface="Arimo" pitchFamily="34" charset="-120"/>
              </a:rPr>
              <a:t>Absolute complaint volume increased in Q1 2026, consistent with the 35% YoY growth in member base. However, normalizing complaints per million members reveals that intensity did not materially deteriorate from Q1 2025 to Q1 2026. This is the more analytically rigorous comparison.</a:t>
            </a:r>
            <a:endParaRPr lang="en-US" sz="1200" dirty="0"/>
          </a:p>
        </p:txBody>
      </p:sp>
      <p:sp>
        <p:nvSpPr>
          <p:cNvPr id="14" name="Shape 12"/>
          <p:cNvSpPr/>
          <p:nvPr/>
        </p:nvSpPr>
        <p:spPr>
          <a:xfrm>
            <a:off x="4704736" y="4871343"/>
            <a:ext cx="314218" cy="19050"/>
          </a:xfrm>
          <a:prstGeom prst="roundRect">
            <a:avLst>
              <a:gd name="adj" fmla="val 49999"/>
            </a:avLst>
          </a:prstGeom>
          <a:solidFill>
            <a:srgbClr val="B2DCE5"/>
          </a:solidFill>
          <a:ln/>
        </p:spPr>
      </p:sp>
      <p:sp>
        <p:nvSpPr>
          <p:cNvPr id="15" name="Shape 13"/>
          <p:cNvSpPr/>
          <p:nvPr/>
        </p:nvSpPr>
        <p:spPr>
          <a:xfrm>
            <a:off x="4664901" y="4821982"/>
            <a:ext cx="117770" cy="117773"/>
          </a:xfrm>
          <a:prstGeom prst="ellipse">
            <a:avLst/>
          </a:prstGeom>
          <a:solidFill>
            <a:srgbClr val="00B3D9"/>
          </a:solidFill>
          <a:ln/>
        </p:spPr>
      </p:sp>
      <p:sp>
        <p:nvSpPr>
          <p:cNvPr id="16" name="Text 14"/>
          <p:cNvSpPr/>
          <p:nvPr/>
        </p:nvSpPr>
        <p:spPr>
          <a:xfrm>
            <a:off x="5352321" y="4758134"/>
            <a:ext cx="6184150" cy="245566"/>
          </a:xfrm>
          <a:prstGeom prst="rect">
            <a:avLst/>
          </a:prstGeom>
          <a:noFill/>
          <a:ln/>
        </p:spPr>
        <p:txBody>
          <a:bodyPr wrap="none" lIns="0" tIns="0" rIns="0" bIns="0" rtlCol="0" anchor="t"/>
          <a:lstStyle/>
          <a:p>
            <a:pPr algn="l" indent="0" marL="0">
              <a:lnSpc>
                <a:spcPct val="104000"/>
              </a:lnSpc>
              <a:buNone/>
            </a:pPr>
            <a:r>
              <a:rPr lang="en-US" sz="1500" dirty="0">
                <a:solidFill>
                  <a:srgbClr val="2A2742"/>
                </a:solidFill>
                <a:latin typeface="Outfit ExtraBold" pitchFamily="34" charset="0"/>
                <a:ea typeface="Outfit ExtraBold" pitchFamily="34" charset="-122"/>
                <a:cs typeface="Outfit ExtraBold" pitchFamily="34" charset="-120"/>
              </a:rPr>
              <a:t>Product Concentration Risk: 65.6% in Checking &amp; Savings</a:t>
            </a:r>
            <a:endParaRPr lang="en-US" sz="1500" dirty="0"/>
          </a:p>
        </p:txBody>
      </p:sp>
      <p:sp>
        <p:nvSpPr>
          <p:cNvPr id="17" name="Text 15"/>
          <p:cNvSpPr/>
          <p:nvPr/>
        </p:nvSpPr>
        <p:spPr>
          <a:xfrm>
            <a:off x="5352321" y="5152926"/>
            <a:ext cx="6184150"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A2742"/>
                </a:solidFill>
                <a:latin typeface="Arimo" pitchFamily="34" charset="0"/>
                <a:ea typeface="Arimo" pitchFamily="34" charset="-122"/>
                <a:cs typeface="Arimo" pitchFamily="34" charset="-120"/>
              </a:rPr>
              <a:t>Nearly two-thirds of all public complaints are concentrated in a single product category. This concentration warrants monitoring — </a:t>
            </a:r>
            <a:pPr algn="l" indent="0" marL="0">
              <a:lnSpc>
                <a:spcPct val="130000"/>
              </a:lnSpc>
              <a:buNone/>
            </a:pPr>
            <a:r>
              <a:rPr lang="en-US" sz="1200" b="1" dirty="0">
                <a:solidFill>
                  <a:srgbClr val="2A2742"/>
                </a:solidFill>
                <a:latin typeface="Arimo Bold" pitchFamily="34" charset="0"/>
                <a:ea typeface="Arimo Bold" pitchFamily="34" charset="-122"/>
                <a:cs typeface="Arimo Bold" pitchFamily="34" charset="-120"/>
              </a:rPr>
              <a:t>checking/savings represents the dominant observed complaint concentration in the CFPB dataset and therefore warrants monitoring.</a:t>
            </a:r>
            <a:pPr algn="l" indent="0" marL="0">
              <a:lnSpc>
                <a:spcPct val="130000"/>
              </a:lnSpc>
              <a:buNone/>
            </a:pPr>
            <a:r>
              <a:rPr lang="en-US" sz="1200" dirty="0">
                <a:solidFill>
                  <a:srgbClr val="2A2742"/>
                </a:solidFill>
                <a:latin typeface="Arimo" pitchFamily="34" charset="0"/>
                <a:ea typeface="Arimo" pitchFamily="34" charset="-122"/>
                <a:cs typeface="Arimo" pitchFamily="34" charset="-120"/>
              </a:rPr>
              <a:t> Friction here has outsized ecosystem impact.</a:t>
            </a:r>
            <a:endParaRPr lang="en-US" sz="1200" dirty="0"/>
          </a:p>
        </p:txBody>
      </p:sp>
      <p:pic>
        <p:nvPicPr>
          <p:cNvPr id="18" name="Image 0" descr="preencoded.png">    </p:cNvPr>
          <p:cNvPicPr>
            <a:picLocks noChangeAspect="1"/>
          </p:cNvPicPr>
          <p:nvPr/>
        </p:nvPicPr>
        <p:blipFill>
          <a:blip r:embed="rId1"/>
          <a:stretch>
            <a:fillRect/>
          </a:stretch>
        </p:blipFill>
        <p:spPr>
          <a:xfrm>
            <a:off x="115686" y="130473"/>
            <a:ext cx="575752" cy="3013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777875"/>
            <a:ext cx="1565732" cy="213717"/>
          </a:xfrm>
          <a:prstGeom prst="roundRect">
            <a:avLst>
              <a:gd name="adj" fmla="val 22102"/>
            </a:avLst>
          </a:prstGeom>
          <a:solidFill>
            <a:srgbClr val="CCF6FF"/>
          </a:solidFill>
          <a:ln/>
        </p:spPr>
      </p:sp>
      <p:sp>
        <p:nvSpPr>
          <p:cNvPr id="3" name="Text 1"/>
          <p:cNvSpPr/>
          <p:nvPr/>
        </p:nvSpPr>
        <p:spPr>
          <a:xfrm>
            <a:off x="745809" y="820043"/>
            <a:ext cx="2006649" cy="129381"/>
          </a:xfrm>
          <a:prstGeom prst="rect">
            <a:avLst/>
          </a:prstGeom>
          <a:noFill/>
          <a:ln/>
        </p:spPr>
        <p:txBody>
          <a:bodyPr wrap="none" lIns="0" tIns="0" rIns="0" bIns="0" rtlCol="0" anchor="t"/>
          <a:lstStyle/>
          <a:p>
            <a:pPr algn="l" indent="0" marL="0">
              <a:lnSpc>
                <a:spcPct val="96000"/>
              </a:lnSpc>
              <a:buNone/>
            </a:pPr>
            <a:r>
              <a:rPr lang="en-US" sz="850" dirty="0">
                <a:solidFill>
                  <a:srgbClr val="2A2742"/>
                </a:solidFill>
                <a:latin typeface="Arimo" pitchFamily="34" charset="0"/>
                <a:ea typeface="Arimo" pitchFamily="34" charset="-122"/>
                <a:cs typeface="Arimo" pitchFamily="34" charset="-120"/>
              </a:rPr>
              <a:t>GROWTH QUALITY INDEX</a:t>
            </a:r>
            <a:endParaRPr lang="en-US" sz="850" dirty="0"/>
          </a:p>
        </p:txBody>
      </p:sp>
      <p:sp>
        <p:nvSpPr>
          <p:cNvPr id="4" name="Text 2"/>
          <p:cNvSpPr/>
          <p:nvPr/>
        </p:nvSpPr>
        <p:spPr>
          <a:xfrm>
            <a:off x="661475" y="1039316"/>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231971"/>
                </a:solidFill>
                <a:latin typeface="Outfit ExtraBold" pitchFamily="34" charset="0"/>
                <a:ea typeface="Outfit ExtraBold" pitchFamily="34" charset="-122"/>
                <a:cs typeface="Outfit ExtraBold" pitchFamily="34" charset="-120"/>
              </a:rPr>
              <a:t>Growth quality is uneven across business dimensions</a:t>
            </a:r>
            <a:endParaRPr lang="en-US" sz="2750" dirty="0"/>
          </a:p>
        </p:txBody>
      </p:sp>
      <p:sp>
        <p:nvSpPr>
          <p:cNvPr id="5" name="Text 3"/>
          <p:cNvSpPr/>
          <p:nvPr/>
        </p:nvSpPr>
        <p:spPr>
          <a:xfrm>
            <a:off x="661475" y="1657747"/>
            <a:ext cx="1086874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A2742"/>
                </a:solidFill>
                <a:latin typeface="Arimo" pitchFamily="34" charset="0"/>
                <a:ea typeface="Arimo" pitchFamily="34" charset="-122"/>
                <a:cs typeface="Arimo" pitchFamily="34" charset="-120"/>
              </a:rPr>
              <a:t>The Growth Quality Index assigns a weighted score to each dimension. Scores and decision flags are the analyst's independent framework — not an official SoFi metric. </a:t>
            </a:r>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Weighted Score = Signal Score × Dimension Weight.</a:t>
            </a:r>
            <a:endParaRPr lang="en-US" sz="1100" dirty="0"/>
          </a:p>
        </p:txBody>
      </p:sp>
      <p:sp>
        <p:nvSpPr>
          <p:cNvPr id="6" name="Shape 4"/>
          <p:cNvSpPr/>
          <p:nvPr/>
        </p:nvSpPr>
        <p:spPr>
          <a:xfrm>
            <a:off x="661475" y="2208213"/>
            <a:ext cx="10868745" cy="3339802"/>
          </a:xfrm>
          <a:prstGeom prst="roundRect">
            <a:avLst>
              <a:gd name="adj" fmla="val 1768"/>
            </a:avLst>
          </a:prstGeom>
          <a:noFill/>
          <a:ln w="6350">
            <a:solidFill>
              <a:srgbClr val="000000">
                <a:alpha val="8000"/>
              </a:srgbClr>
            </a:solidFill>
            <a:prstDash val="solid"/>
          </a:ln>
        </p:spPr>
      </p:sp>
      <p:sp>
        <p:nvSpPr>
          <p:cNvPr id="7" name="Shape 5"/>
          <p:cNvSpPr/>
          <p:nvPr/>
        </p:nvSpPr>
        <p:spPr>
          <a:xfrm>
            <a:off x="661475" y="2581771"/>
            <a:ext cx="10868745" cy="8787"/>
          </a:xfrm>
          <a:prstGeom prst="rect">
            <a:avLst/>
          </a:prstGeom>
          <a:solidFill>
            <a:srgbClr val="000000">
              <a:alpha val="8000"/>
            </a:srgbClr>
          </a:solidFill>
          <a:ln/>
        </p:spPr>
      </p:sp>
      <p:sp>
        <p:nvSpPr>
          <p:cNvPr id="8" name="Shape 6"/>
          <p:cNvSpPr/>
          <p:nvPr/>
        </p:nvSpPr>
        <p:spPr>
          <a:xfrm>
            <a:off x="661475" y="2952155"/>
            <a:ext cx="10868745" cy="8787"/>
          </a:xfrm>
          <a:prstGeom prst="rect">
            <a:avLst/>
          </a:prstGeom>
          <a:solidFill>
            <a:srgbClr val="000000">
              <a:alpha val="8000"/>
            </a:srgbClr>
          </a:solidFill>
          <a:ln/>
        </p:spPr>
      </p:sp>
      <p:sp>
        <p:nvSpPr>
          <p:cNvPr id="9" name="Shape 7"/>
          <p:cNvSpPr/>
          <p:nvPr/>
        </p:nvSpPr>
        <p:spPr>
          <a:xfrm>
            <a:off x="661475" y="3322538"/>
            <a:ext cx="10868745" cy="8787"/>
          </a:xfrm>
          <a:prstGeom prst="rect">
            <a:avLst/>
          </a:prstGeom>
          <a:solidFill>
            <a:srgbClr val="000000">
              <a:alpha val="8000"/>
            </a:srgbClr>
          </a:solidFill>
          <a:ln/>
        </p:spPr>
      </p:sp>
      <p:sp>
        <p:nvSpPr>
          <p:cNvPr id="10" name="Shape 8"/>
          <p:cNvSpPr/>
          <p:nvPr/>
        </p:nvSpPr>
        <p:spPr>
          <a:xfrm>
            <a:off x="661475" y="3692922"/>
            <a:ext cx="10868745" cy="8787"/>
          </a:xfrm>
          <a:prstGeom prst="rect">
            <a:avLst/>
          </a:prstGeom>
          <a:solidFill>
            <a:srgbClr val="000000">
              <a:alpha val="8000"/>
            </a:srgbClr>
          </a:solidFill>
          <a:ln/>
        </p:spPr>
      </p:sp>
      <p:sp>
        <p:nvSpPr>
          <p:cNvPr id="11" name="Shape 9"/>
          <p:cNvSpPr/>
          <p:nvPr/>
        </p:nvSpPr>
        <p:spPr>
          <a:xfrm>
            <a:off x="661475" y="4063305"/>
            <a:ext cx="10868745" cy="8787"/>
          </a:xfrm>
          <a:prstGeom prst="rect">
            <a:avLst/>
          </a:prstGeom>
          <a:solidFill>
            <a:srgbClr val="000000">
              <a:alpha val="8000"/>
            </a:srgbClr>
          </a:solidFill>
          <a:ln/>
        </p:spPr>
      </p:sp>
      <p:sp>
        <p:nvSpPr>
          <p:cNvPr id="12" name="Shape 10"/>
          <p:cNvSpPr/>
          <p:nvPr/>
        </p:nvSpPr>
        <p:spPr>
          <a:xfrm>
            <a:off x="661475" y="4433689"/>
            <a:ext cx="10868745" cy="8787"/>
          </a:xfrm>
          <a:prstGeom prst="rect">
            <a:avLst/>
          </a:prstGeom>
          <a:solidFill>
            <a:srgbClr val="000000">
              <a:alpha val="8000"/>
            </a:srgbClr>
          </a:solidFill>
          <a:ln/>
        </p:spPr>
      </p:sp>
      <p:sp>
        <p:nvSpPr>
          <p:cNvPr id="13" name="Shape 11"/>
          <p:cNvSpPr/>
          <p:nvPr/>
        </p:nvSpPr>
        <p:spPr>
          <a:xfrm>
            <a:off x="661475" y="4804073"/>
            <a:ext cx="10868745" cy="8787"/>
          </a:xfrm>
          <a:prstGeom prst="rect">
            <a:avLst/>
          </a:prstGeom>
          <a:solidFill>
            <a:srgbClr val="000000">
              <a:alpha val="8000"/>
            </a:srgbClr>
          </a:solidFill>
          <a:ln/>
        </p:spPr>
      </p:sp>
      <p:sp>
        <p:nvSpPr>
          <p:cNvPr id="14" name="Shape 12"/>
          <p:cNvSpPr/>
          <p:nvPr/>
        </p:nvSpPr>
        <p:spPr>
          <a:xfrm>
            <a:off x="661475" y="5174456"/>
            <a:ext cx="10868745" cy="8787"/>
          </a:xfrm>
          <a:prstGeom prst="rect">
            <a:avLst/>
          </a:prstGeom>
          <a:solidFill>
            <a:srgbClr val="000000">
              <a:alpha val="8000"/>
            </a:srgbClr>
          </a:solidFill>
          <a:ln/>
        </p:spPr>
      </p:sp>
      <p:sp>
        <p:nvSpPr>
          <p:cNvPr id="15" name="Shape 13"/>
          <p:cNvSpPr/>
          <p:nvPr/>
        </p:nvSpPr>
        <p:spPr>
          <a:xfrm>
            <a:off x="668122" y="2214562"/>
            <a:ext cx="3039689" cy="367209"/>
          </a:xfrm>
          <a:custGeom>
            <a:avLst/>
            <a:gdLst/>
            <a:ahLst/>
            <a:cxnLst/>
            <a:rect l="l" t="t" r="r" b="b"/>
            <a:pathLst>
              <a:path w="3039689" h="367209">
                <a:moveTo>
                  <a:pt x="49204" y="0"/>
                </a:moveTo>
                <a:lnTo>
                  <a:pt x="3039689" y="0"/>
                </a:lnTo>
                <a:lnTo>
                  <a:pt x="3039689" y="367209"/>
                </a:lnTo>
                <a:lnTo>
                  <a:pt x="0" y="367209"/>
                </a:lnTo>
                <a:lnTo>
                  <a:pt x="0" y="49205"/>
                </a:lnTo>
                <a:arcTo hR="49205" wR="49204" stAng="10800000" swAng="5400000"/>
                <a:close/>
              </a:path>
            </a:pathLst>
          </a:custGeom>
          <a:solidFill>
            <a:srgbClr val="D8AFF8"/>
          </a:solidFill>
          <a:ln/>
        </p:spPr>
      </p:sp>
      <p:sp>
        <p:nvSpPr>
          <p:cNvPr id="16" name="Text 14"/>
          <p:cNvSpPr/>
          <p:nvPr/>
        </p:nvSpPr>
        <p:spPr>
          <a:xfrm>
            <a:off x="808613" y="2292548"/>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Dimension</a:t>
            </a:r>
            <a:endParaRPr lang="en-US" sz="1100" dirty="0"/>
          </a:p>
        </p:txBody>
      </p:sp>
      <p:sp>
        <p:nvSpPr>
          <p:cNvPr id="17" name="Shape 15"/>
          <p:cNvSpPr/>
          <p:nvPr/>
        </p:nvSpPr>
        <p:spPr>
          <a:xfrm>
            <a:off x="3707811" y="2214562"/>
            <a:ext cx="1736880" cy="367209"/>
          </a:xfrm>
          <a:prstGeom prst="rect">
            <a:avLst/>
          </a:prstGeom>
          <a:solidFill>
            <a:srgbClr val="B05EF1"/>
          </a:solidFill>
          <a:ln/>
        </p:spPr>
      </p:sp>
      <p:sp>
        <p:nvSpPr>
          <p:cNvPr id="18" name="Text 16"/>
          <p:cNvSpPr/>
          <p:nvPr/>
        </p:nvSpPr>
        <p:spPr>
          <a:xfrm>
            <a:off x="3848301" y="2292548"/>
            <a:ext cx="2065484" cy="208062"/>
          </a:xfrm>
          <a:prstGeom prst="rect">
            <a:avLst/>
          </a:prstGeom>
          <a:noFill/>
          <a:ln/>
        </p:spPr>
        <p:txBody>
          <a:bodyPr wrap="none" lIns="0" tIns="0" rIns="0" bIns="0" rtlCol="0" anchor="t"/>
          <a:lstStyle/>
          <a:p>
            <a:pPr algn="l" indent="0" marL="0">
              <a:lnSpc>
                <a:spcPct val="123000"/>
              </a:lnSpc>
              <a:buNone/>
            </a:pPr>
            <a:r>
              <a:rPr lang="en-US" sz="1100" b="1" dirty="0">
                <a:solidFill>
                  <a:srgbClr val="000000"/>
                </a:solidFill>
                <a:latin typeface="Arimo Bold" pitchFamily="34" charset="0"/>
                <a:ea typeface="Arimo Bold" pitchFamily="34" charset="-122"/>
                <a:cs typeface="Arimo Bold" pitchFamily="34" charset="-120"/>
              </a:rPr>
              <a:t>Signal Score</a:t>
            </a:r>
            <a:endParaRPr lang="en-US" sz="1100" dirty="0"/>
          </a:p>
        </p:txBody>
      </p:sp>
      <p:sp>
        <p:nvSpPr>
          <p:cNvPr id="19" name="Shape 17"/>
          <p:cNvSpPr/>
          <p:nvPr/>
        </p:nvSpPr>
        <p:spPr>
          <a:xfrm>
            <a:off x="5444691" y="2214562"/>
            <a:ext cx="1736880" cy="367209"/>
          </a:xfrm>
          <a:prstGeom prst="rect">
            <a:avLst/>
          </a:prstGeom>
          <a:solidFill>
            <a:srgbClr val="FFFFFF"/>
          </a:solidFill>
          <a:ln/>
        </p:spPr>
      </p:sp>
      <p:sp>
        <p:nvSpPr>
          <p:cNvPr id="20" name="Text 18"/>
          <p:cNvSpPr/>
          <p:nvPr/>
        </p:nvSpPr>
        <p:spPr>
          <a:xfrm>
            <a:off x="5585181" y="2292548"/>
            <a:ext cx="2065484"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Weight</a:t>
            </a:r>
            <a:endParaRPr lang="en-US" sz="1100" dirty="0"/>
          </a:p>
        </p:txBody>
      </p:sp>
      <p:sp>
        <p:nvSpPr>
          <p:cNvPr id="21" name="Text 19"/>
          <p:cNvSpPr/>
          <p:nvPr/>
        </p:nvSpPr>
        <p:spPr>
          <a:xfrm>
            <a:off x="7322061" y="2292548"/>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Weighted Score</a:t>
            </a:r>
            <a:endParaRPr lang="en-US" sz="1100" dirty="0"/>
          </a:p>
        </p:txBody>
      </p:sp>
      <p:sp>
        <p:nvSpPr>
          <p:cNvPr id="22" name="Shape 20"/>
          <p:cNvSpPr/>
          <p:nvPr/>
        </p:nvSpPr>
        <p:spPr>
          <a:xfrm>
            <a:off x="9352721" y="2214562"/>
            <a:ext cx="2171150" cy="367209"/>
          </a:xfrm>
          <a:custGeom>
            <a:avLst/>
            <a:gdLst/>
            <a:ahLst/>
            <a:cxnLst/>
            <a:rect l="l" t="t" r="r" b="b"/>
            <a:pathLst>
              <a:path w="2171150" h="367209">
                <a:moveTo>
                  <a:pt x="0" y="0"/>
                </a:moveTo>
                <a:lnTo>
                  <a:pt x="2121946" y="0"/>
                </a:lnTo>
                <a:arcTo hR="49205" wR="49204" stAng="16200000" swAng="5400000"/>
                <a:lnTo>
                  <a:pt x="2171150" y="367209"/>
                </a:lnTo>
                <a:lnTo>
                  <a:pt x="0" y="367209"/>
                </a:lnTo>
                <a:lnTo>
                  <a:pt x="0" y="0"/>
                </a:lnTo>
                <a:close/>
              </a:path>
            </a:pathLst>
          </a:custGeom>
          <a:solidFill>
            <a:srgbClr val="FAFAFA"/>
          </a:solidFill>
          <a:ln/>
        </p:spPr>
      </p:sp>
      <p:sp>
        <p:nvSpPr>
          <p:cNvPr id="23" name="Text 21"/>
          <p:cNvSpPr/>
          <p:nvPr/>
        </p:nvSpPr>
        <p:spPr>
          <a:xfrm>
            <a:off x="9493211" y="2292548"/>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Decision Flag</a:t>
            </a:r>
            <a:endParaRPr lang="en-US" sz="1100" dirty="0"/>
          </a:p>
        </p:txBody>
      </p:sp>
      <p:sp>
        <p:nvSpPr>
          <p:cNvPr id="24" name="Shape 22"/>
          <p:cNvSpPr/>
          <p:nvPr/>
        </p:nvSpPr>
        <p:spPr>
          <a:xfrm>
            <a:off x="668122" y="2581771"/>
            <a:ext cx="3039689" cy="370384"/>
          </a:xfrm>
          <a:prstGeom prst="rect">
            <a:avLst/>
          </a:prstGeom>
          <a:solidFill>
            <a:srgbClr val="D8AFF8"/>
          </a:solidFill>
          <a:ln/>
        </p:spPr>
      </p:sp>
      <p:sp>
        <p:nvSpPr>
          <p:cNvPr id="25" name="Text 23"/>
          <p:cNvSpPr/>
          <p:nvPr/>
        </p:nvSpPr>
        <p:spPr>
          <a:xfrm>
            <a:off x="808613" y="2662932"/>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Customer Depth</a:t>
            </a:r>
            <a:endParaRPr lang="en-US" sz="1100" dirty="0"/>
          </a:p>
        </p:txBody>
      </p:sp>
      <p:sp>
        <p:nvSpPr>
          <p:cNvPr id="26" name="Shape 24"/>
          <p:cNvSpPr/>
          <p:nvPr/>
        </p:nvSpPr>
        <p:spPr>
          <a:xfrm>
            <a:off x="3707811" y="2581771"/>
            <a:ext cx="1736880" cy="370384"/>
          </a:xfrm>
          <a:prstGeom prst="rect">
            <a:avLst/>
          </a:prstGeom>
          <a:solidFill>
            <a:srgbClr val="B05EF1"/>
          </a:solidFill>
          <a:ln/>
        </p:spPr>
      </p:sp>
      <p:sp>
        <p:nvSpPr>
          <p:cNvPr id="27" name="Text 25"/>
          <p:cNvSpPr/>
          <p:nvPr/>
        </p:nvSpPr>
        <p:spPr>
          <a:xfrm>
            <a:off x="3848301" y="2662932"/>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4</a:t>
            </a:r>
            <a:endParaRPr lang="en-US" sz="1100" dirty="0"/>
          </a:p>
        </p:txBody>
      </p:sp>
      <p:sp>
        <p:nvSpPr>
          <p:cNvPr id="28" name="Shape 26"/>
          <p:cNvSpPr/>
          <p:nvPr/>
        </p:nvSpPr>
        <p:spPr>
          <a:xfrm>
            <a:off x="5444691" y="2581771"/>
            <a:ext cx="1736880" cy="370384"/>
          </a:xfrm>
          <a:prstGeom prst="rect">
            <a:avLst/>
          </a:prstGeom>
          <a:solidFill>
            <a:srgbClr val="FFFFFF"/>
          </a:solidFill>
          <a:ln/>
        </p:spPr>
      </p:sp>
      <p:sp>
        <p:nvSpPr>
          <p:cNvPr id="29" name="Text 27"/>
          <p:cNvSpPr/>
          <p:nvPr/>
        </p:nvSpPr>
        <p:spPr>
          <a:xfrm>
            <a:off x="5585181" y="2662932"/>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1.20</a:t>
            </a:r>
            <a:endParaRPr lang="en-US" sz="1100" dirty="0"/>
          </a:p>
        </p:txBody>
      </p:sp>
      <p:sp>
        <p:nvSpPr>
          <p:cNvPr id="30" name="Text 28"/>
          <p:cNvSpPr/>
          <p:nvPr/>
        </p:nvSpPr>
        <p:spPr>
          <a:xfrm>
            <a:off x="7322061" y="2662932"/>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4.80</a:t>
            </a:r>
            <a:endParaRPr lang="en-US" sz="1100" dirty="0"/>
          </a:p>
        </p:txBody>
      </p:sp>
      <p:sp>
        <p:nvSpPr>
          <p:cNvPr id="31" name="Shape 29"/>
          <p:cNvSpPr/>
          <p:nvPr/>
        </p:nvSpPr>
        <p:spPr>
          <a:xfrm>
            <a:off x="9352721" y="2581771"/>
            <a:ext cx="2171150" cy="370384"/>
          </a:xfrm>
          <a:prstGeom prst="rect">
            <a:avLst/>
          </a:prstGeom>
          <a:solidFill>
            <a:srgbClr val="FAFAFA"/>
          </a:solidFill>
          <a:ln/>
        </p:spPr>
      </p:sp>
      <p:sp>
        <p:nvSpPr>
          <p:cNvPr id="32" name="Text 30"/>
          <p:cNvSpPr/>
          <p:nvPr/>
        </p:nvSpPr>
        <p:spPr>
          <a:xfrm>
            <a:off x="9493211" y="2662932"/>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E7D32"/>
                </a:solidFill>
                <a:latin typeface="Arimo Bold" pitchFamily="34" charset="0"/>
                <a:ea typeface="Arimo Bold" pitchFamily="34" charset="-122"/>
                <a:cs typeface="Arimo Bold" pitchFamily="34" charset="-120"/>
              </a:rPr>
              <a:t>SCALE</a:t>
            </a:r>
            <a:endParaRPr lang="en-US" sz="1100" dirty="0"/>
          </a:p>
        </p:txBody>
      </p:sp>
      <p:sp>
        <p:nvSpPr>
          <p:cNvPr id="33" name="Shape 31"/>
          <p:cNvSpPr/>
          <p:nvPr/>
        </p:nvSpPr>
        <p:spPr>
          <a:xfrm>
            <a:off x="668122" y="2952155"/>
            <a:ext cx="3039689" cy="370384"/>
          </a:xfrm>
          <a:prstGeom prst="rect">
            <a:avLst/>
          </a:prstGeom>
          <a:solidFill>
            <a:srgbClr val="D8AFF8"/>
          </a:solidFill>
          <a:ln/>
        </p:spPr>
      </p:sp>
      <p:sp>
        <p:nvSpPr>
          <p:cNvPr id="34" name="Text 32"/>
          <p:cNvSpPr/>
          <p:nvPr/>
        </p:nvSpPr>
        <p:spPr>
          <a:xfrm>
            <a:off x="808613" y="3033316"/>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Funding Quality</a:t>
            </a:r>
            <a:endParaRPr lang="en-US" sz="1100" dirty="0"/>
          </a:p>
        </p:txBody>
      </p:sp>
      <p:sp>
        <p:nvSpPr>
          <p:cNvPr id="35" name="Shape 33"/>
          <p:cNvSpPr/>
          <p:nvPr/>
        </p:nvSpPr>
        <p:spPr>
          <a:xfrm>
            <a:off x="3707811" y="2952155"/>
            <a:ext cx="1736880" cy="370384"/>
          </a:xfrm>
          <a:prstGeom prst="rect">
            <a:avLst/>
          </a:prstGeom>
          <a:solidFill>
            <a:srgbClr val="B05EF1"/>
          </a:solidFill>
          <a:ln/>
        </p:spPr>
      </p:sp>
      <p:sp>
        <p:nvSpPr>
          <p:cNvPr id="36" name="Text 34"/>
          <p:cNvSpPr/>
          <p:nvPr/>
        </p:nvSpPr>
        <p:spPr>
          <a:xfrm>
            <a:off x="3848301" y="3033316"/>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4</a:t>
            </a:r>
            <a:endParaRPr lang="en-US" sz="1100" dirty="0"/>
          </a:p>
        </p:txBody>
      </p:sp>
      <p:sp>
        <p:nvSpPr>
          <p:cNvPr id="37" name="Shape 35"/>
          <p:cNvSpPr/>
          <p:nvPr/>
        </p:nvSpPr>
        <p:spPr>
          <a:xfrm>
            <a:off x="5444691" y="2952155"/>
            <a:ext cx="1736880" cy="370384"/>
          </a:xfrm>
          <a:prstGeom prst="rect">
            <a:avLst/>
          </a:prstGeom>
          <a:solidFill>
            <a:srgbClr val="FFFFFF"/>
          </a:solidFill>
          <a:ln/>
        </p:spPr>
      </p:sp>
      <p:sp>
        <p:nvSpPr>
          <p:cNvPr id="38" name="Text 36"/>
          <p:cNvSpPr/>
          <p:nvPr/>
        </p:nvSpPr>
        <p:spPr>
          <a:xfrm>
            <a:off x="5585181" y="3033316"/>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1.20</a:t>
            </a:r>
            <a:endParaRPr lang="en-US" sz="1100" dirty="0"/>
          </a:p>
        </p:txBody>
      </p:sp>
      <p:sp>
        <p:nvSpPr>
          <p:cNvPr id="39" name="Text 37"/>
          <p:cNvSpPr/>
          <p:nvPr/>
        </p:nvSpPr>
        <p:spPr>
          <a:xfrm>
            <a:off x="7322061" y="3033316"/>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4.80</a:t>
            </a:r>
            <a:endParaRPr lang="en-US" sz="1100" dirty="0"/>
          </a:p>
        </p:txBody>
      </p:sp>
      <p:sp>
        <p:nvSpPr>
          <p:cNvPr id="40" name="Shape 38"/>
          <p:cNvSpPr/>
          <p:nvPr/>
        </p:nvSpPr>
        <p:spPr>
          <a:xfrm>
            <a:off x="9352721" y="2952155"/>
            <a:ext cx="2171150" cy="370384"/>
          </a:xfrm>
          <a:prstGeom prst="rect">
            <a:avLst/>
          </a:prstGeom>
          <a:solidFill>
            <a:srgbClr val="FAFAFA"/>
          </a:solidFill>
          <a:ln/>
        </p:spPr>
      </p:sp>
      <p:sp>
        <p:nvSpPr>
          <p:cNvPr id="41" name="Text 39"/>
          <p:cNvSpPr/>
          <p:nvPr/>
        </p:nvSpPr>
        <p:spPr>
          <a:xfrm>
            <a:off x="9493211" y="3033316"/>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E7D32"/>
                </a:solidFill>
                <a:latin typeface="Arimo Bold" pitchFamily="34" charset="0"/>
                <a:ea typeface="Arimo Bold" pitchFamily="34" charset="-122"/>
                <a:cs typeface="Arimo Bold" pitchFamily="34" charset="-120"/>
              </a:rPr>
              <a:t>SCALE / MONITOR</a:t>
            </a:r>
            <a:endParaRPr lang="en-US" sz="1100" dirty="0"/>
          </a:p>
        </p:txBody>
      </p:sp>
      <p:sp>
        <p:nvSpPr>
          <p:cNvPr id="42" name="Shape 40"/>
          <p:cNvSpPr/>
          <p:nvPr/>
        </p:nvSpPr>
        <p:spPr>
          <a:xfrm>
            <a:off x="668122" y="3322538"/>
            <a:ext cx="3039689" cy="370384"/>
          </a:xfrm>
          <a:prstGeom prst="rect">
            <a:avLst/>
          </a:prstGeom>
          <a:solidFill>
            <a:srgbClr val="D8AFF8"/>
          </a:solidFill>
          <a:ln/>
        </p:spPr>
      </p:sp>
      <p:sp>
        <p:nvSpPr>
          <p:cNvPr id="43" name="Text 41"/>
          <p:cNvSpPr/>
          <p:nvPr/>
        </p:nvSpPr>
        <p:spPr>
          <a:xfrm>
            <a:off x="808613" y="3403699"/>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Profitability</a:t>
            </a:r>
            <a:endParaRPr lang="en-US" sz="1100" dirty="0"/>
          </a:p>
        </p:txBody>
      </p:sp>
      <p:sp>
        <p:nvSpPr>
          <p:cNvPr id="44" name="Shape 42"/>
          <p:cNvSpPr/>
          <p:nvPr/>
        </p:nvSpPr>
        <p:spPr>
          <a:xfrm>
            <a:off x="3707811" y="3322538"/>
            <a:ext cx="1736880" cy="370384"/>
          </a:xfrm>
          <a:prstGeom prst="rect">
            <a:avLst/>
          </a:prstGeom>
          <a:solidFill>
            <a:srgbClr val="B05EF1"/>
          </a:solidFill>
          <a:ln/>
        </p:spPr>
      </p:sp>
      <p:sp>
        <p:nvSpPr>
          <p:cNvPr id="45" name="Text 43"/>
          <p:cNvSpPr/>
          <p:nvPr/>
        </p:nvSpPr>
        <p:spPr>
          <a:xfrm>
            <a:off x="3848301" y="3403699"/>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4</a:t>
            </a:r>
            <a:endParaRPr lang="en-US" sz="1100" dirty="0"/>
          </a:p>
        </p:txBody>
      </p:sp>
      <p:sp>
        <p:nvSpPr>
          <p:cNvPr id="46" name="Shape 44"/>
          <p:cNvSpPr/>
          <p:nvPr/>
        </p:nvSpPr>
        <p:spPr>
          <a:xfrm>
            <a:off x="5444691" y="3322538"/>
            <a:ext cx="1736880" cy="370384"/>
          </a:xfrm>
          <a:prstGeom prst="rect">
            <a:avLst/>
          </a:prstGeom>
          <a:solidFill>
            <a:srgbClr val="FFFFFF"/>
          </a:solidFill>
          <a:ln/>
        </p:spPr>
      </p:sp>
      <p:sp>
        <p:nvSpPr>
          <p:cNvPr id="47" name="Text 45"/>
          <p:cNvSpPr/>
          <p:nvPr/>
        </p:nvSpPr>
        <p:spPr>
          <a:xfrm>
            <a:off x="5585181" y="3403699"/>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1.10</a:t>
            </a:r>
            <a:endParaRPr lang="en-US" sz="1100" dirty="0"/>
          </a:p>
        </p:txBody>
      </p:sp>
      <p:sp>
        <p:nvSpPr>
          <p:cNvPr id="48" name="Text 46"/>
          <p:cNvSpPr/>
          <p:nvPr/>
        </p:nvSpPr>
        <p:spPr>
          <a:xfrm>
            <a:off x="7322061" y="3403699"/>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4.40</a:t>
            </a:r>
            <a:endParaRPr lang="en-US" sz="1100" dirty="0"/>
          </a:p>
        </p:txBody>
      </p:sp>
      <p:sp>
        <p:nvSpPr>
          <p:cNvPr id="49" name="Shape 47"/>
          <p:cNvSpPr/>
          <p:nvPr/>
        </p:nvSpPr>
        <p:spPr>
          <a:xfrm>
            <a:off x="9352721" y="3322538"/>
            <a:ext cx="2171150" cy="370384"/>
          </a:xfrm>
          <a:prstGeom prst="rect">
            <a:avLst/>
          </a:prstGeom>
          <a:solidFill>
            <a:srgbClr val="FAFAFA"/>
          </a:solidFill>
          <a:ln/>
        </p:spPr>
      </p:sp>
      <p:sp>
        <p:nvSpPr>
          <p:cNvPr id="50" name="Text 48"/>
          <p:cNvSpPr/>
          <p:nvPr/>
        </p:nvSpPr>
        <p:spPr>
          <a:xfrm>
            <a:off x="9493211" y="3403699"/>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E7D32"/>
                </a:solidFill>
                <a:latin typeface="Arimo Bold" pitchFamily="34" charset="0"/>
                <a:ea typeface="Arimo Bold" pitchFamily="34" charset="-122"/>
                <a:cs typeface="Arimo Bold" pitchFamily="34" charset="-120"/>
              </a:rPr>
              <a:t>SCALE</a:t>
            </a:r>
            <a:endParaRPr lang="en-US" sz="1100" dirty="0"/>
          </a:p>
        </p:txBody>
      </p:sp>
      <p:sp>
        <p:nvSpPr>
          <p:cNvPr id="51" name="Shape 49"/>
          <p:cNvSpPr/>
          <p:nvPr/>
        </p:nvSpPr>
        <p:spPr>
          <a:xfrm>
            <a:off x="668122" y="3692922"/>
            <a:ext cx="3039689" cy="370384"/>
          </a:xfrm>
          <a:prstGeom prst="rect">
            <a:avLst/>
          </a:prstGeom>
          <a:solidFill>
            <a:srgbClr val="D8AFF8"/>
          </a:solidFill>
          <a:ln/>
        </p:spPr>
      </p:sp>
      <p:sp>
        <p:nvSpPr>
          <p:cNvPr id="52" name="Text 50"/>
          <p:cNvSpPr/>
          <p:nvPr/>
        </p:nvSpPr>
        <p:spPr>
          <a:xfrm>
            <a:off x="808613" y="3774083"/>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Credit Risk</a:t>
            </a:r>
            <a:endParaRPr lang="en-US" sz="1100" dirty="0"/>
          </a:p>
        </p:txBody>
      </p:sp>
      <p:sp>
        <p:nvSpPr>
          <p:cNvPr id="53" name="Shape 51"/>
          <p:cNvSpPr/>
          <p:nvPr/>
        </p:nvSpPr>
        <p:spPr>
          <a:xfrm>
            <a:off x="3707811" y="3692922"/>
            <a:ext cx="1736880" cy="370384"/>
          </a:xfrm>
          <a:prstGeom prst="rect">
            <a:avLst/>
          </a:prstGeom>
          <a:solidFill>
            <a:srgbClr val="B05EF1"/>
          </a:solidFill>
          <a:ln/>
        </p:spPr>
      </p:sp>
      <p:sp>
        <p:nvSpPr>
          <p:cNvPr id="54" name="Text 52"/>
          <p:cNvSpPr/>
          <p:nvPr/>
        </p:nvSpPr>
        <p:spPr>
          <a:xfrm>
            <a:off x="3848301" y="3774083"/>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3</a:t>
            </a:r>
            <a:endParaRPr lang="en-US" sz="1100" dirty="0"/>
          </a:p>
        </p:txBody>
      </p:sp>
      <p:sp>
        <p:nvSpPr>
          <p:cNvPr id="55" name="Shape 53"/>
          <p:cNvSpPr/>
          <p:nvPr/>
        </p:nvSpPr>
        <p:spPr>
          <a:xfrm>
            <a:off x="5444691" y="3692922"/>
            <a:ext cx="1736880" cy="370384"/>
          </a:xfrm>
          <a:prstGeom prst="rect">
            <a:avLst/>
          </a:prstGeom>
          <a:solidFill>
            <a:srgbClr val="FFFFFF"/>
          </a:solidFill>
          <a:ln/>
        </p:spPr>
      </p:sp>
      <p:sp>
        <p:nvSpPr>
          <p:cNvPr id="56" name="Text 54"/>
          <p:cNvSpPr/>
          <p:nvPr/>
        </p:nvSpPr>
        <p:spPr>
          <a:xfrm>
            <a:off x="5585181" y="3774083"/>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1.30</a:t>
            </a:r>
            <a:endParaRPr lang="en-US" sz="1100" dirty="0"/>
          </a:p>
        </p:txBody>
      </p:sp>
      <p:sp>
        <p:nvSpPr>
          <p:cNvPr id="57" name="Text 55"/>
          <p:cNvSpPr/>
          <p:nvPr/>
        </p:nvSpPr>
        <p:spPr>
          <a:xfrm>
            <a:off x="7322061" y="3774083"/>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3.90</a:t>
            </a:r>
            <a:endParaRPr lang="en-US" sz="1100" dirty="0"/>
          </a:p>
        </p:txBody>
      </p:sp>
      <p:sp>
        <p:nvSpPr>
          <p:cNvPr id="58" name="Shape 56"/>
          <p:cNvSpPr/>
          <p:nvPr/>
        </p:nvSpPr>
        <p:spPr>
          <a:xfrm>
            <a:off x="9352721" y="3692922"/>
            <a:ext cx="2171150" cy="370384"/>
          </a:xfrm>
          <a:prstGeom prst="rect">
            <a:avLst/>
          </a:prstGeom>
          <a:solidFill>
            <a:srgbClr val="FAFAFA"/>
          </a:solidFill>
          <a:ln/>
        </p:spPr>
      </p:sp>
      <p:sp>
        <p:nvSpPr>
          <p:cNvPr id="59" name="Text 57"/>
          <p:cNvSpPr/>
          <p:nvPr/>
        </p:nvSpPr>
        <p:spPr>
          <a:xfrm>
            <a:off x="9493211" y="3774083"/>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1A3A52"/>
                </a:solidFill>
                <a:latin typeface="Arimo Bold" pitchFamily="34" charset="0"/>
                <a:ea typeface="Arimo Bold" pitchFamily="34" charset="-122"/>
                <a:cs typeface="Arimo Bold" pitchFamily="34" charset="-120"/>
              </a:rPr>
              <a:t>MONITOR</a:t>
            </a:r>
            <a:endParaRPr lang="en-US" sz="1100" dirty="0"/>
          </a:p>
        </p:txBody>
      </p:sp>
      <p:sp>
        <p:nvSpPr>
          <p:cNvPr id="60" name="Shape 58"/>
          <p:cNvSpPr/>
          <p:nvPr/>
        </p:nvSpPr>
        <p:spPr>
          <a:xfrm>
            <a:off x="668122" y="4063305"/>
            <a:ext cx="3039689" cy="370384"/>
          </a:xfrm>
          <a:prstGeom prst="rect">
            <a:avLst/>
          </a:prstGeom>
          <a:solidFill>
            <a:srgbClr val="D8AFF8"/>
          </a:solidFill>
          <a:ln/>
        </p:spPr>
      </p:sp>
      <p:sp>
        <p:nvSpPr>
          <p:cNvPr id="61" name="Text 59"/>
          <p:cNvSpPr/>
          <p:nvPr/>
        </p:nvSpPr>
        <p:spPr>
          <a:xfrm>
            <a:off x="808613" y="4144466"/>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Segment Diversification</a:t>
            </a:r>
            <a:endParaRPr lang="en-US" sz="1100" dirty="0"/>
          </a:p>
        </p:txBody>
      </p:sp>
      <p:sp>
        <p:nvSpPr>
          <p:cNvPr id="62" name="Shape 60"/>
          <p:cNvSpPr/>
          <p:nvPr/>
        </p:nvSpPr>
        <p:spPr>
          <a:xfrm>
            <a:off x="3707811" y="4063305"/>
            <a:ext cx="1736880" cy="370384"/>
          </a:xfrm>
          <a:prstGeom prst="rect">
            <a:avLst/>
          </a:prstGeom>
          <a:solidFill>
            <a:srgbClr val="B05EF1"/>
          </a:solidFill>
          <a:ln/>
        </p:spPr>
      </p:sp>
      <p:sp>
        <p:nvSpPr>
          <p:cNvPr id="63" name="Text 61"/>
          <p:cNvSpPr/>
          <p:nvPr/>
        </p:nvSpPr>
        <p:spPr>
          <a:xfrm>
            <a:off x="3848301" y="4144466"/>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3</a:t>
            </a:r>
            <a:endParaRPr lang="en-US" sz="1100" dirty="0"/>
          </a:p>
        </p:txBody>
      </p:sp>
      <p:sp>
        <p:nvSpPr>
          <p:cNvPr id="64" name="Shape 62"/>
          <p:cNvSpPr/>
          <p:nvPr/>
        </p:nvSpPr>
        <p:spPr>
          <a:xfrm>
            <a:off x="5444691" y="4063305"/>
            <a:ext cx="1736880" cy="370384"/>
          </a:xfrm>
          <a:prstGeom prst="rect">
            <a:avLst/>
          </a:prstGeom>
          <a:solidFill>
            <a:srgbClr val="FFFFFF"/>
          </a:solidFill>
          <a:ln/>
        </p:spPr>
      </p:sp>
      <p:sp>
        <p:nvSpPr>
          <p:cNvPr id="65" name="Text 63"/>
          <p:cNvSpPr/>
          <p:nvPr/>
        </p:nvSpPr>
        <p:spPr>
          <a:xfrm>
            <a:off x="5585181" y="4144466"/>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1.10</a:t>
            </a:r>
            <a:endParaRPr lang="en-US" sz="1100" dirty="0"/>
          </a:p>
        </p:txBody>
      </p:sp>
      <p:sp>
        <p:nvSpPr>
          <p:cNvPr id="66" name="Text 64"/>
          <p:cNvSpPr/>
          <p:nvPr/>
        </p:nvSpPr>
        <p:spPr>
          <a:xfrm>
            <a:off x="7322061" y="4144466"/>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3.30</a:t>
            </a:r>
            <a:endParaRPr lang="en-US" sz="1100" dirty="0"/>
          </a:p>
        </p:txBody>
      </p:sp>
      <p:sp>
        <p:nvSpPr>
          <p:cNvPr id="67" name="Shape 65"/>
          <p:cNvSpPr/>
          <p:nvPr/>
        </p:nvSpPr>
        <p:spPr>
          <a:xfrm>
            <a:off x="9352721" y="4063305"/>
            <a:ext cx="2171150" cy="370384"/>
          </a:xfrm>
          <a:prstGeom prst="rect">
            <a:avLst/>
          </a:prstGeom>
          <a:solidFill>
            <a:srgbClr val="FAFAFA"/>
          </a:solidFill>
          <a:ln/>
        </p:spPr>
      </p:sp>
      <p:sp>
        <p:nvSpPr>
          <p:cNvPr id="68" name="Text 66"/>
          <p:cNvSpPr/>
          <p:nvPr/>
        </p:nvSpPr>
        <p:spPr>
          <a:xfrm>
            <a:off x="9493211" y="4144466"/>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1A3A52"/>
                </a:solidFill>
                <a:latin typeface="Arimo Bold" pitchFamily="34" charset="0"/>
                <a:ea typeface="Arimo Bold" pitchFamily="34" charset="-122"/>
                <a:cs typeface="Arimo Bold" pitchFamily="34" charset="-120"/>
              </a:rPr>
              <a:t>IMPROVE</a:t>
            </a:r>
            <a:endParaRPr lang="en-US" sz="1100" dirty="0"/>
          </a:p>
        </p:txBody>
      </p:sp>
      <p:sp>
        <p:nvSpPr>
          <p:cNvPr id="69" name="Shape 67"/>
          <p:cNvSpPr/>
          <p:nvPr/>
        </p:nvSpPr>
        <p:spPr>
          <a:xfrm>
            <a:off x="668122" y="4433689"/>
            <a:ext cx="3039689" cy="370384"/>
          </a:xfrm>
          <a:prstGeom prst="rect">
            <a:avLst/>
          </a:prstGeom>
          <a:solidFill>
            <a:srgbClr val="D8AFF8"/>
          </a:solidFill>
          <a:ln/>
        </p:spPr>
      </p:sp>
      <p:sp>
        <p:nvSpPr>
          <p:cNvPr id="70" name="Text 68"/>
          <p:cNvSpPr/>
          <p:nvPr/>
        </p:nvSpPr>
        <p:spPr>
          <a:xfrm>
            <a:off x="808613" y="4514850"/>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Operational / Customer Friction</a:t>
            </a:r>
            <a:endParaRPr lang="en-US" sz="1100" dirty="0"/>
          </a:p>
        </p:txBody>
      </p:sp>
      <p:sp>
        <p:nvSpPr>
          <p:cNvPr id="71" name="Shape 69"/>
          <p:cNvSpPr/>
          <p:nvPr/>
        </p:nvSpPr>
        <p:spPr>
          <a:xfrm>
            <a:off x="3707811" y="4433689"/>
            <a:ext cx="1736880" cy="370384"/>
          </a:xfrm>
          <a:prstGeom prst="rect">
            <a:avLst/>
          </a:prstGeom>
          <a:solidFill>
            <a:srgbClr val="B05EF1"/>
          </a:solidFill>
          <a:ln/>
        </p:spPr>
      </p:sp>
      <p:sp>
        <p:nvSpPr>
          <p:cNvPr id="72" name="Text 70"/>
          <p:cNvSpPr/>
          <p:nvPr/>
        </p:nvSpPr>
        <p:spPr>
          <a:xfrm>
            <a:off x="3848301" y="4514850"/>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3</a:t>
            </a:r>
            <a:endParaRPr lang="en-US" sz="1100" dirty="0"/>
          </a:p>
        </p:txBody>
      </p:sp>
      <p:sp>
        <p:nvSpPr>
          <p:cNvPr id="73" name="Shape 71"/>
          <p:cNvSpPr/>
          <p:nvPr/>
        </p:nvSpPr>
        <p:spPr>
          <a:xfrm>
            <a:off x="5444691" y="4433689"/>
            <a:ext cx="1736880" cy="370384"/>
          </a:xfrm>
          <a:prstGeom prst="rect">
            <a:avLst/>
          </a:prstGeom>
          <a:solidFill>
            <a:srgbClr val="FFFFFF"/>
          </a:solidFill>
          <a:ln/>
        </p:spPr>
      </p:sp>
      <p:sp>
        <p:nvSpPr>
          <p:cNvPr id="74" name="Text 72"/>
          <p:cNvSpPr/>
          <p:nvPr/>
        </p:nvSpPr>
        <p:spPr>
          <a:xfrm>
            <a:off x="5585181" y="4514850"/>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1.00</a:t>
            </a:r>
            <a:endParaRPr lang="en-US" sz="1100" dirty="0"/>
          </a:p>
        </p:txBody>
      </p:sp>
      <p:sp>
        <p:nvSpPr>
          <p:cNvPr id="75" name="Text 73"/>
          <p:cNvSpPr/>
          <p:nvPr/>
        </p:nvSpPr>
        <p:spPr>
          <a:xfrm>
            <a:off x="7322061" y="4514850"/>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3.00</a:t>
            </a:r>
            <a:endParaRPr lang="en-US" sz="1100" dirty="0"/>
          </a:p>
        </p:txBody>
      </p:sp>
      <p:sp>
        <p:nvSpPr>
          <p:cNvPr id="76" name="Shape 74"/>
          <p:cNvSpPr/>
          <p:nvPr/>
        </p:nvSpPr>
        <p:spPr>
          <a:xfrm>
            <a:off x="9352721" y="4433689"/>
            <a:ext cx="2171150" cy="370384"/>
          </a:xfrm>
          <a:prstGeom prst="rect">
            <a:avLst/>
          </a:prstGeom>
          <a:solidFill>
            <a:srgbClr val="FAFAFA"/>
          </a:solidFill>
          <a:ln/>
        </p:spPr>
      </p:sp>
      <p:sp>
        <p:nvSpPr>
          <p:cNvPr id="77" name="Text 75"/>
          <p:cNvSpPr/>
          <p:nvPr/>
        </p:nvSpPr>
        <p:spPr>
          <a:xfrm>
            <a:off x="9493211" y="4514850"/>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1A3A52"/>
                </a:solidFill>
                <a:latin typeface="Arimo Bold" pitchFamily="34" charset="0"/>
                <a:ea typeface="Arimo Bold" pitchFamily="34" charset="-122"/>
                <a:cs typeface="Arimo Bold" pitchFamily="34" charset="-120"/>
              </a:rPr>
              <a:t>MONITOR</a:t>
            </a:r>
            <a:endParaRPr lang="en-US" sz="1100" dirty="0"/>
          </a:p>
        </p:txBody>
      </p:sp>
      <p:sp>
        <p:nvSpPr>
          <p:cNvPr id="78" name="Shape 76"/>
          <p:cNvSpPr/>
          <p:nvPr/>
        </p:nvSpPr>
        <p:spPr>
          <a:xfrm>
            <a:off x="668122" y="4804073"/>
            <a:ext cx="3039689" cy="370384"/>
          </a:xfrm>
          <a:prstGeom prst="rect">
            <a:avLst/>
          </a:prstGeom>
          <a:solidFill>
            <a:srgbClr val="D8AFF8"/>
          </a:solidFill>
          <a:ln/>
        </p:spPr>
      </p:sp>
      <p:sp>
        <p:nvSpPr>
          <p:cNvPr id="79" name="Text 77"/>
          <p:cNvSpPr/>
          <p:nvPr/>
        </p:nvSpPr>
        <p:spPr>
          <a:xfrm>
            <a:off x="808613" y="4885234"/>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Cash Efficiency</a:t>
            </a:r>
            <a:endParaRPr lang="en-US" sz="1100" dirty="0"/>
          </a:p>
        </p:txBody>
      </p:sp>
      <p:sp>
        <p:nvSpPr>
          <p:cNvPr id="80" name="Shape 78"/>
          <p:cNvSpPr/>
          <p:nvPr/>
        </p:nvSpPr>
        <p:spPr>
          <a:xfrm>
            <a:off x="3707811" y="4804073"/>
            <a:ext cx="1736880" cy="370384"/>
          </a:xfrm>
          <a:prstGeom prst="rect">
            <a:avLst/>
          </a:prstGeom>
          <a:solidFill>
            <a:srgbClr val="B05EF1"/>
          </a:solidFill>
          <a:ln/>
        </p:spPr>
      </p:sp>
      <p:sp>
        <p:nvSpPr>
          <p:cNvPr id="81" name="Text 79"/>
          <p:cNvSpPr/>
          <p:nvPr/>
        </p:nvSpPr>
        <p:spPr>
          <a:xfrm>
            <a:off x="3848301" y="4885234"/>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2</a:t>
            </a:r>
            <a:endParaRPr lang="en-US" sz="1100" dirty="0"/>
          </a:p>
        </p:txBody>
      </p:sp>
      <p:sp>
        <p:nvSpPr>
          <p:cNvPr id="82" name="Shape 80"/>
          <p:cNvSpPr/>
          <p:nvPr/>
        </p:nvSpPr>
        <p:spPr>
          <a:xfrm>
            <a:off x="5444691" y="4804073"/>
            <a:ext cx="1736880" cy="370384"/>
          </a:xfrm>
          <a:prstGeom prst="rect">
            <a:avLst/>
          </a:prstGeom>
          <a:solidFill>
            <a:srgbClr val="FFFFFF"/>
          </a:solidFill>
          <a:ln/>
        </p:spPr>
      </p:sp>
      <p:sp>
        <p:nvSpPr>
          <p:cNvPr id="83" name="Text 81"/>
          <p:cNvSpPr/>
          <p:nvPr/>
        </p:nvSpPr>
        <p:spPr>
          <a:xfrm>
            <a:off x="5585181" y="4885234"/>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1.40</a:t>
            </a:r>
            <a:endParaRPr lang="en-US" sz="1100" dirty="0"/>
          </a:p>
        </p:txBody>
      </p:sp>
      <p:sp>
        <p:nvSpPr>
          <p:cNvPr id="84" name="Text 82"/>
          <p:cNvSpPr/>
          <p:nvPr/>
        </p:nvSpPr>
        <p:spPr>
          <a:xfrm>
            <a:off x="7322061" y="4885234"/>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2.80</a:t>
            </a:r>
            <a:endParaRPr lang="en-US" sz="1100" dirty="0"/>
          </a:p>
        </p:txBody>
      </p:sp>
      <p:sp>
        <p:nvSpPr>
          <p:cNvPr id="85" name="Shape 83"/>
          <p:cNvSpPr/>
          <p:nvPr/>
        </p:nvSpPr>
        <p:spPr>
          <a:xfrm>
            <a:off x="9352721" y="4804073"/>
            <a:ext cx="2171150" cy="370384"/>
          </a:xfrm>
          <a:prstGeom prst="rect">
            <a:avLst/>
          </a:prstGeom>
          <a:solidFill>
            <a:srgbClr val="FAFAFA"/>
          </a:solidFill>
          <a:ln/>
        </p:spPr>
      </p:sp>
      <p:sp>
        <p:nvSpPr>
          <p:cNvPr id="86" name="Text 84"/>
          <p:cNvSpPr/>
          <p:nvPr/>
        </p:nvSpPr>
        <p:spPr>
          <a:xfrm>
            <a:off x="9493211" y="4885234"/>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1A3A52"/>
                </a:solidFill>
                <a:latin typeface="Arimo Bold" pitchFamily="34" charset="0"/>
                <a:ea typeface="Arimo Bold" pitchFamily="34" charset="-122"/>
                <a:cs typeface="Arimo Bold" pitchFamily="34" charset="-120"/>
              </a:rPr>
              <a:t>MONITOR</a:t>
            </a:r>
            <a:endParaRPr lang="en-US" sz="1100" dirty="0"/>
          </a:p>
        </p:txBody>
      </p:sp>
      <p:sp>
        <p:nvSpPr>
          <p:cNvPr id="87" name="Shape 85"/>
          <p:cNvSpPr/>
          <p:nvPr/>
        </p:nvSpPr>
        <p:spPr>
          <a:xfrm>
            <a:off x="668122" y="5174456"/>
            <a:ext cx="3039689" cy="367209"/>
          </a:xfrm>
          <a:custGeom>
            <a:avLst/>
            <a:gdLst/>
            <a:ahLst/>
            <a:cxnLst/>
            <a:rect l="l" t="t" r="r" b="b"/>
            <a:pathLst>
              <a:path w="3039689" h="367209">
                <a:moveTo>
                  <a:pt x="0" y="0"/>
                </a:moveTo>
                <a:lnTo>
                  <a:pt x="3039689" y="0"/>
                </a:lnTo>
                <a:lnTo>
                  <a:pt x="3039689" y="367209"/>
                </a:lnTo>
                <a:lnTo>
                  <a:pt x="49204" y="367209"/>
                </a:lnTo>
                <a:arcTo hR="49205" wR="49204" stAng="5400000" swAng="5400000"/>
                <a:lnTo>
                  <a:pt x="0" y="0"/>
                </a:lnTo>
                <a:close/>
              </a:path>
            </a:pathLst>
          </a:custGeom>
          <a:solidFill>
            <a:srgbClr val="D8AFF8"/>
          </a:solidFill>
          <a:ln/>
        </p:spPr>
      </p:sp>
      <p:sp>
        <p:nvSpPr>
          <p:cNvPr id="88" name="Text 86"/>
          <p:cNvSpPr/>
          <p:nvPr/>
        </p:nvSpPr>
        <p:spPr>
          <a:xfrm>
            <a:off x="808613" y="5255617"/>
            <a:ext cx="3368293" cy="208062"/>
          </a:xfrm>
          <a:prstGeom prst="rect">
            <a:avLst/>
          </a:prstGeom>
          <a:noFill/>
          <a:ln/>
        </p:spPr>
        <p:txBody>
          <a:bodyPr wrap="none" lIns="0" tIns="0" rIns="0" bIns="0" rtlCol="0" anchor="t"/>
          <a:lstStyle/>
          <a:p>
            <a:pPr algn="l" indent="0" marL="0">
              <a:lnSpc>
                <a:spcPct val="123000"/>
              </a:lnSpc>
              <a:buNone/>
            </a:pPr>
            <a:r>
              <a:rPr lang="en-US" sz="1100" b="1" dirty="0">
                <a:solidFill>
                  <a:srgbClr val="272525"/>
                </a:solidFill>
                <a:latin typeface="Arimo Bold" pitchFamily="34" charset="0"/>
                <a:ea typeface="Arimo Bold" pitchFamily="34" charset="-122"/>
                <a:cs typeface="Arimo Bold" pitchFamily="34" charset="-120"/>
              </a:rPr>
              <a:t>Technology Platform Performance</a:t>
            </a:r>
            <a:endParaRPr lang="en-US" sz="1100" dirty="0"/>
          </a:p>
        </p:txBody>
      </p:sp>
      <p:sp>
        <p:nvSpPr>
          <p:cNvPr id="89" name="Shape 87"/>
          <p:cNvSpPr/>
          <p:nvPr/>
        </p:nvSpPr>
        <p:spPr>
          <a:xfrm>
            <a:off x="3707811" y="5174456"/>
            <a:ext cx="1736880" cy="367209"/>
          </a:xfrm>
          <a:prstGeom prst="rect">
            <a:avLst/>
          </a:prstGeom>
          <a:solidFill>
            <a:srgbClr val="B05EF1"/>
          </a:solidFill>
          <a:ln/>
        </p:spPr>
      </p:sp>
      <p:sp>
        <p:nvSpPr>
          <p:cNvPr id="90" name="Text 88"/>
          <p:cNvSpPr/>
          <p:nvPr/>
        </p:nvSpPr>
        <p:spPr>
          <a:xfrm>
            <a:off x="3848301" y="5255617"/>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2</a:t>
            </a:r>
            <a:endParaRPr lang="en-US" sz="1100" dirty="0"/>
          </a:p>
        </p:txBody>
      </p:sp>
      <p:sp>
        <p:nvSpPr>
          <p:cNvPr id="91" name="Shape 89"/>
          <p:cNvSpPr/>
          <p:nvPr/>
        </p:nvSpPr>
        <p:spPr>
          <a:xfrm>
            <a:off x="5444691" y="5174456"/>
            <a:ext cx="1736880" cy="367209"/>
          </a:xfrm>
          <a:prstGeom prst="rect">
            <a:avLst/>
          </a:prstGeom>
          <a:solidFill>
            <a:srgbClr val="FFFFFF"/>
          </a:solidFill>
          <a:ln/>
        </p:spPr>
      </p:sp>
      <p:sp>
        <p:nvSpPr>
          <p:cNvPr id="92" name="Text 90"/>
          <p:cNvSpPr/>
          <p:nvPr/>
        </p:nvSpPr>
        <p:spPr>
          <a:xfrm>
            <a:off x="5585181" y="5255617"/>
            <a:ext cx="2065484" cy="208062"/>
          </a:xfrm>
          <a:prstGeom prst="rect">
            <a:avLst/>
          </a:prstGeom>
          <a:noFill/>
          <a:ln/>
        </p:spPr>
        <p:txBody>
          <a:bodyPr wrap="none" lIns="0" tIns="0" rIns="0" bIns="0" rtlCol="0" anchor="t"/>
          <a:lstStyle/>
          <a:p>
            <a:pPr algn="l" indent="0" marL="0">
              <a:lnSpc>
                <a:spcPct val="123000"/>
              </a:lnSpc>
              <a:buNone/>
            </a:pPr>
            <a:r>
              <a:rPr lang="en-US" sz="1100" dirty="0">
                <a:solidFill>
                  <a:srgbClr val="272525"/>
                </a:solidFill>
                <a:latin typeface="Arimo" pitchFamily="34" charset="0"/>
                <a:ea typeface="Arimo" pitchFamily="34" charset="-122"/>
                <a:cs typeface="Arimo" pitchFamily="34" charset="-120"/>
              </a:rPr>
              <a:t>1.00</a:t>
            </a:r>
            <a:endParaRPr lang="en-US" sz="1100" dirty="0"/>
          </a:p>
        </p:txBody>
      </p:sp>
      <p:sp>
        <p:nvSpPr>
          <p:cNvPr id="93" name="Text 91"/>
          <p:cNvSpPr/>
          <p:nvPr/>
        </p:nvSpPr>
        <p:spPr>
          <a:xfrm>
            <a:off x="7322061" y="5255617"/>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2A2742"/>
                </a:solidFill>
                <a:latin typeface="Arimo Bold" pitchFamily="34" charset="0"/>
                <a:ea typeface="Arimo Bold" pitchFamily="34" charset="-122"/>
                <a:cs typeface="Arimo Bold" pitchFamily="34" charset="-120"/>
              </a:rPr>
              <a:t>2.00</a:t>
            </a:r>
            <a:endParaRPr lang="en-US" sz="1100" dirty="0"/>
          </a:p>
        </p:txBody>
      </p:sp>
      <p:sp>
        <p:nvSpPr>
          <p:cNvPr id="94" name="Shape 92"/>
          <p:cNvSpPr/>
          <p:nvPr/>
        </p:nvSpPr>
        <p:spPr>
          <a:xfrm>
            <a:off x="9352721" y="5174456"/>
            <a:ext cx="2171150" cy="367209"/>
          </a:xfrm>
          <a:custGeom>
            <a:avLst/>
            <a:gdLst/>
            <a:ahLst/>
            <a:cxnLst/>
            <a:rect l="l" t="t" r="r" b="b"/>
            <a:pathLst>
              <a:path w="2171150" h="367209">
                <a:moveTo>
                  <a:pt x="0" y="0"/>
                </a:moveTo>
                <a:lnTo>
                  <a:pt x="2171150" y="0"/>
                </a:lnTo>
                <a:lnTo>
                  <a:pt x="2171150" y="318003"/>
                </a:lnTo>
                <a:arcTo hR="49205" wR="49204" stAng="0" swAng="5400000"/>
                <a:lnTo>
                  <a:pt x="0" y="367209"/>
                </a:lnTo>
                <a:lnTo>
                  <a:pt x="0" y="0"/>
                </a:lnTo>
                <a:close/>
              </a:path>
            </a:pathLst>
          </a:custGeom>
          <a:solidFill>
            <a:srgbClr val="FAFAFA"/>
          </a:solidFill>
          <a:ln/>
        </p:spPr>
      </p:sp>
      <p:sp>
        <p:nvSpPr>
          <p:cNvPr id="95" name="Text 93"/>
          <p:cNvSpPr/>
          <p:nvPr/>
        </p:nvSpPr>
        <p:spPr>
          <a:xfrm>
            <a:off x="9493211" y="5255617"/>
            <a:ext cx="2499754" cy="208062"/>
          </a:xfrm>
          <a:prstGeom prst="rect">
            <a:avLst/>
          </a:prstGeom>
          <a:noFill/>
          <a:ln/>
        </p:spPr>
        <p:txBody>
          <a:bodyPr wrap="none" lIns="0" tIns="0" rIns="0" bIns="0" rtlCol="0" anchor="t"/>
          <a:lstStyle/>
          <a:p>
            <a:pPr algn="l" indent="0" marL="0">
              <a:lnSpc>
                <a:spcPct val="123000"/>
              </a:lnSpc>
              <a:buNone/>
            </a:pPr>
            <a:r>
              <a:rPr lang="en-US" sz="1100" b="1" dirty="0">
                <a:solidFill>
                  <a:srgbClr val="1A3A52"/>
                </a:solidFill>
                <a:latin typeface="Arimo Bold" pitchFamily="34" charset="0"/>
                <a:ea typeface="Arimo Bold" pitchFamily="34" charset="-122"/>
                <a:cs typeface="Arimo Bold" pitchFamily="34" charset="-120"/>
              </a:rPr>
              <a:t>FIX / MONITOR</a:t>
            </a:r>
            <a:endParaRPr lang="en-US" sz="1100" dirty="0"/>
          </a:p>
        </p:txBody>
      </p:sp>
      <p:sp>
        <p:nvSpPr>
          <p:cNvPr id="96" name="Shape 94"/>
          <p:cNvSpPr/>
          <p:nvPr/>
        </p:nvSpPr>
        <p:spPr>
          <a:xfrm>
            <a:off x="661475" y="5682357"/>
            <a:ext cx="10868745" cy="505222"/>
          </a:xfrm>
          <a:prstGeom prst="roundRect">
            <a:avLst>
              <a:gd name="adj" fmla="val 11687"/>
            </a:avLst>
          </a:prstGeom>
          <a:solidFill>
            <a:srgbClr val="CCF6FF"/>
          </a:solidFill>
          <a:ln/>
        </p:spPr>
      </p:sp>
      <p:pic>
        <p:nvPicPr>
          <p:cNvPr id="97" name="Image 0" descr="preencoded.png">    </p:cNvPr>
          <p:cNvPicPr>
            <a:picLocks noChangeAspect="1"/>
          </p:cNvPicPr>
          <p:nvPr/>
        </p:nvPicPr>
        <p:blipFill>
          <a:blip r:embed="rId1"/>
          <a:stretch>
            <a:fillRect/>
          </a:stretch>
        </p:blipFill>
        <p:spPr>
          <a:xfrm>
            <a:off x="801965" y="5853708"/>
            <a:ext cx="175712" cy="140494"/>
          </a:xfrm>
          <a:prstGeom prst="rect">
            <a:avLst/>
          </a:prstGeom>
        </p:spPr>
      </p:pic>
      <p:sp>
        <p:nvSpPr>
          <p:cNvPr id="98" name="Text 95"/>
          <p:cNvSpPr/>
          <p:nvPr/>
        </p:nvSpPr>
        <p:spPr>
          <a:xfrm>
            <a:off x="1118167" y="5836940"/>
            <a:ext cx="10881147" cy="208062"/>
          </a:xfrm>
          <a:prstGeom prst="rect">
            <a:avLst/>
          </a:prstGeom>
          <a:noFill/>
          <a:ln/>
        </p:spPr>
        <p:txBody>
          <a:bodyPr wrap="none" lIns="0" tIns="0" rIns="0" bIns="0" rtlCol="0" anchor="t"/>
          <a:lstStyle/>
          <a:p>
            <a:pPr algn="l" indent="0" marL="0">
              <a:lnSpc>
                <a:spcPct val="123000"/>
              </a:lnSpc>
              <a:buNone/>
            </a:pPr>
            <a:r>
              <a:rPr lang="en-US" sz="1100" b="1" dirty="0">
                <a:solidFill>
                  <a:srgbClr val="000000"/>
                </a:solidFill>
                <a:latin typeface="Arimo Bold" pitchFamily="34" charset="0"/>
                <a:ea typeface="Arimo Bold" pitchFamily="34" charset="-122"/>
                <a:cs typeface="Arimo Bold" pitchFamily="34" charset="-120"/>
              </a:rPr>
              <a:t>Action Framework:</a:t>
            </a:r>
            <a:pPr algn="l" indent="0" marL="0">
              <a:lnSpc>
                <a:spcPct val="123000"/>
              </a:lnSpc>
              <a:buNone/>
            </a:pPr>
            <a:r>
              <a:rPr lang="en-US" sz="1100" dirty="0">
                <a:solidFill>
                  <a:srgbClr val="000000"/>
                </a:solidFill>
                <a:latin typeface="Arimo" pitchFamily="34" charset="0"/>
                <a:ea typeface="Arimo" pitchFamily="34" charset="-122"/>
                <a:cs typeface="Arimo" pitchFamily="34" charset="-120"/>
              </a:rPr>
              <a:t> Scale what is working. Monitor credit risk, customer friction, and cash efficiency. Improve diversification and Technology Platform performance.</a:t>
            </a:r>
            <a:endParaRPr lang="en-US" sz="1100" dirty="0"/>
          </a:p>
        </p:txBody>
      </p:sp>
      <p:pic>
        <p:nvPicPr>
          <p:cNvPr id="99" name="Image 1" descr="preencoded.png">    </p:cNvPr>
          <p:cNvPicPr>
            <a:picLocks noChangeAspect="1"/>
          </p:cNvPicPr>
          <p:nvPr/>
        </p:nvPicPr>
        <p:blipFill>
          <a:blip r:embed="rId2"/>
          <a:stretch>
            <a:fillRect/>
          </a:stretch>
        </p:blipFill>
        <p:spPr>
          <a:xfrm>
            <a:off x="115686" y="130473"/>
            <a:ext cx="575752" cy="3013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633115"/>
            <a:ext cx="1786984" cy="238820"/>
          </a:xfrm>
          <a:prstGeom prst="roundRect">
            <a:avLst>
              <a:gd name="adj" fmla="val 22106"/>
            </a:avLst>
          </a:prstGeom>
          <a:solidFill>
            <a:srgbClr val="CCF6FF"/>
          </a:solidFill>
          <a:ln/>
        </p:spPr>
      </p:sp>
      <p:sp>
        <p:nvSpPr>
          <p:cNvPr id="3" name="Text 1"/>
          <p:cNvSpPr/>
          <p:nvPr/>
        </p:nvSpPr>
        <p:spPr>
          <a:xfrm>
            <a:off x="755730" y="680244"/>
            <a:ext cx="2208058" cy="144562"/>
          </a:xfrm>
          <a:prstGeom prst="rect">
            <a:avLst/>
          </a:prstGeom>
          <a:noFill/>
          <a:ln/>
        </p:spPr>
        <p:txBody>
          <a:bodyPr wrap="none" lIns="0" tIns="0" rIns="0" bIns="0" rtlCol="0" anchor="t"/>
          <a:lstStyle/>
          <a:p>
            <a:pPr algn="l" indent="0" marL="0">
              <a:lnSpc>
                <a:spcPct val="96000"/>
              </a:lnSpc>
              <a:buNone/>
            </a:pPr>
            <a:r>
              <a:rPr lang="en-US" sz="950" dirty="0">
                <a:solidFill>
                  <a:srgbClr val="2A2742"/>
                </a:solidFill>
                <a:latin typeface="Arimo" pitchFamily="34" charset="0"/>
                <a:ea typeface="Arimo" pitchFamily="34" charset="-122"/>
                <a:cs typeface="Arimo" pitchFamily="34" charset="-120"/>
              </a:rPr>
              <a:t>EXECUTIVE ASSESSMENT</a:t>
            </a:r>
            <a:endParaRPr lang="en-US" sz="950" dirty="0"/>
          </a:p>
        </p:txBody>
      </p:sp>
      <p:sp>
        <p:nvSpPr>
          <p:cNvPr id="4" name="Text 2"/>
          <p:cNvSpPr/>
          <p:nvPr/>
        </p:nvSpPr>
        <p:spPr>
          <a:xfrm>
            <a:off x="661475" y="931565"/>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231971"/>
                </a:solidFill>
                <a:latin typeface="Outfit ExtraBold" pitchFamily="34" charset="0"/>
                <a:ea typeface="Outfit ExtraBold" pitchFamily="34" charset="-122"/>
                <a:cs typeface="Outfit ExtraBold" pitchFamily="34" charset="-120"/>
              </a:rPr>
              <a:t>Growth is real — sustainability is conditional</a:t>
            </a:r>
            <a:endParaRPr lang="en-US" sz="3050" dirty="0"/>
          </a:p>
        </p:txBody>
      </p:sp>
      <p:sp>
        <p:nvSpPr>
          <p:cNvPr id="5" name="Text 3"/>
          <p:cNvSpPr/>
          <p:nvPr/>
        </p:nvSpPr>
        <p:spPr>
          <a:xfrm>
            <a:off x="661475" y="1646337"/>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A2742"/>
                </a:solidFill>
                <a:latin typeface="Arimo" pitchFamily="34" charset="0"/>
                <a:ea typeface="Arimo" pitchFamily="34" charset="-122"/>
                <a:cs typeface="Arimo" pitchFamily="34" charset="-120"/>
              </a:rPr>
              <a:t>SoFi's Q1 2026 growth is strong and increasingly diversified at the customer and product level. Sustainability depends on improving cash conversion, maintaining credit and funding discipline, and recovering Technology Platform performance.</a:t>
            </a:r>
            <a:endParaRPr lang="en-US" sz="1200" dirty="0"/>
          </a:p>
        </p:txBody>
      </p:sp>
      <p:sp>
        <p:nvSpPr>
          <p:cNvPr id="6" name="Shape 4"/>
          <p:cNvSpPr/>
          <p:nvPr/>
        </p:nvSpPr>
        <p:spPr>
          <a:xfrm>
            <a:off x="548269" y="2304554"/>
            <a:ext cx="3556209" cy="2305943"/>
          </a:xfrm>
          <a:prstGeom prst="roundRect">
            <a:avLst>
              <a:gd name="adj" fmla="val 4906"/>
            </a:avLst>
          </a:prstGeom>
          <a:solidFill>
            <a:srgbClr val="5CC97B">
              <a:alpha val="95000"/>
            </a:srgbClr>
          </a:solidFill>
          <a:ln/>
        </p:spPr>
      </p:sp>
      <p:sp>
        <p:nvSpPr>
          <p:cNvPr id="7" name="Text 5"/>
          <p:cNvSpPr/>
          <p:nvPr/>
        </p:nvSpPr>
        <p:spPr>
          <a:xfrm>
            <a:off x="705328" y="2453779"/>
            <a:ext cx="3242090" cy="245566"/>
          </a:xfrm>
          <a:prstGeom prst="rect">
            <a:avLst/>
          </a:prstGeom>
          <a:noFill/>
          <a:ln/>
        </p:spPr>
        <p:txBody>
          <a:bodyPr wrap="none" lIns="0" tIns="0" rIns="0" bIns="0" rtlCol="0" anchor="t"/>
          <a:lstStyle/>
          <a:p>
            <a:pPr algn="l" indent="0" marL="0">
              <a:lnSpc>
                <a:spcPct val="104000"/>
              </a:lnSpc>
              <a:buNone/>
            </a:pPr>
            <a:r>
              <a:rPr lang="en-US" sz="1500" dirty="0">
                <a:solidFill>
                  <a:srgbClr val="231971"/>
                </a:solidFill>
                <a:latin typeface="Outfit ExtraBold" pitchFamily="34" charset="0"/>
                <a:ea typeface="Outfit ExtraBold" pitchFamily="34" charset="-122"/>
                <a:cs typeface="Outfit ExtraBold" pitchFamily="34" charset="-120"/>
              </a:rPr>
              <a:t>SCALE ✓</a:t>
            </a:r>
            <a:endParaRPr lang="en-US" sz="1500" dirty="0"/>
          </a:p>
        </p:txBody>
      </p:sp>
      <p:sp>
        <p:nvSpPr>
          <p:cNvPr id="8" name="Text 6"/>
          <p:cNvSpPr/>
          <p:nvPr/>
        </p:nvSpPr>
        <p:spPr>
          <a:xfrm>
            <a:off x="705328" y="2848570"/>
            <a:ext cx="3242090"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A2742"/>
                </a:solidFill>
                <a:latin typeface="Arimo" pitchFamily="34" charset="0"/>
                <a:ea typeface="Arimo" pitchFamily="34" charset="-122"/>
                <a:cs typeface="Arimo" pitchFamily="34" charset="-120"/>
              </a:rPr>
              <a:t>Dimensions showing stronger performance signals and supporting the growth-quality thesis.</a:t>
            </a:r>
            <a:endParaRPr lang="en-US" sz="1200" dirty="0"/>
          </a:p>
        </p:txBody>
      </p:sp>
      <p:sp>
        <p:nvSpPr>
          <p:cNvPr id="9" name="Text 7"/>
          <p:cNvSpPr/>
          <p:nvPr/>
        </p:nvSpPr>
        <p:spPr>
          <a:xfrm>
            <a:off x="705328" y="3718421"/>
            <a:ext cx="3242090" cy="839887"/>
          </a:xfrm>
          <a:prstGeom prst="rect">
            <a:avLst/>
          </a:prstGeom>
          <a:noFill/>
          <a:ln/>
        </p:spPr>
        <p:txBody>
          <a:bodyPr wrap="square" lIns="0" tIns="62849" rIns="0" bIns="0" rtlCol="0" anchor="t">
            <a:normAutofit/>
          </a:bodyPr>
          <a:lstStyle/>
          <a:p>
            <a:pPr algn="l" marL="243840" indent="-243840">
              <a:lnSpc>
                <a:spcPct val="130000"/>
              </a:lnSpc>
              <a:buSzPct val="100000"/>
              <a:buChar char="•"/>
            </a:pPr>
            <a:r>
              <a:rPr lang="en-US" sz="1200" dirty="0">
                <a:solidFill>
                  <a:srgbClr val="2A2742"/>
                </a:solidFill>
                <a:latin typeface="Arimo" pitchFamily="34" charset="0"/>
                <a:ea typeface="Arimo" pitchFamily="34" charset="-122"/>
                <a:cs typeface="Arimo" pitchFamily="34" charset="-120"/>
              </a:rPr>
              <a:t>Customer Depth (4.80)</a:t>
            </a:r>
            <a:endParaRPr lang="en-US" sz="1200" dirty="0"/>
          </a:p>
          <a:p>
            <a:pPr algn="l" marL="243840" indent="-243840">
              <a:lnSpc>
                <a:spcPct val="130000"/>
              </a:lnSpc>
              <a:buSzPct val="100000"/>
              <a:buChar char="•"/>
            </a:pPr>
            <a:r>
              <a:rPr lang="en-US" sz="1200" dirty="0">
                <a:solidFill>
                  <a:srgbClr val="2A2742"/>
                </a:solidFill>
                <a:latin typeface="Arimo" pitchFamily="34" charset="0"/>
                <a:ea typeface="Arimo" pitchFamily="34" charset="-122"/>
                <a:cs typeface="Arimo" pitchFamily="34" charset="-120"/>
              </a:rPr>
              <a:t>Funding Quality (4.80)</a:t>
            </a:r>
            <a:endParaRPr lang="en-US" sz="1200" dirty="0"/>
          </a:p>
          <a:p>
            <a:pPr algn="l" marL="243840" indent="-243840">
              <a:lnSpc>
                <a:spcPct val="130000"/>
              </a:lnSpc>
              <a:buSzPct val="100000"/>
              <a:buChar char="•"/>
            </a:pPr>
            <a:r>
              <a:rPr lang="en-US" sz="1200" dirty="0">
                <a:solidFill>
                  <a:srgbClr val="2A2742"/>
                </a:solidFill>
                <a:latin typeface="Arimo" pitchFamily="34" charset="0"/>
                <a:ea typeface="Arimo" pitchFamily="34" charset="-122"/>
                <a:cs typeface="Arimo" pitchFamily="34" charset="-120"/>
              </a:rPr>
              <a:t>Profitability (4.40)</a:t>
            </a:r>
            <a:endParaRPr lang="en-US" sz="1200" dirty="0"/>
          </a:p>
        </p:txBody>
      </p:sp>
      <p:sp>
        <p:nvSpPr>
          <p:cNvPr id="10" name="Shape 8"/>
          <p:cNvSpPr/>
          <p:nvPr/>
        </p:nvSpPr>
        <p:spPr>
          <a:xfrm>
            <a:off x="4267788" y="2304554"/>
            <a:ext cx="3668720" cy="2305943"/>
          </a:xfrm>
          <a:prstGeom prst="roundRect">
            <a:avLst>
              <a:gd name="adj" fmla="val 4906"/>
            </a:avLst>
          </a:prstGeom>
          <a:solidFill>
            <a:srgbClr val="5E4CE6">
              <a:alpha val="95000"/>
            </a:srgbClr>
          </a:solidFill>
          <a:ln/>
        </p:spPr>
      </p:sp>
      <p:sp>
        <p:nvSpPr>
          <p:cNvPr id="11" name="Text 9"/>
          <p:cNvSpPr/>
          <p:nvPr/>
        </p:nvSpPr>
        <p:spPr>
          <a:xfrm>
            <a:off x="4424847" y="2453779"/>
            <a:ext cx="3354601" cy="251916"/>
          </a:xfrm>
          <a:prstGeom prst="rect">
            <a:avLst/>
          </a:prstGeom>
          <a:noFill/>
          <a:ln/>
        </p:spPr>
        <p:txBody>
          <a:bodyPr wrap="none" lIns="0" tIns="0" rIns="0" bIns="0" rtlCol="0" anchor="t"/>
          <a:lstStyle/>
          <a:p>
            <a:pPr algn="l" indent="0" marL="0">
              <a:lnSpc>
                <a:spcPct val="104000"/>
              </a:lnSpc>
              <a:buNone/>
            </a:pPr>
            <a:r>
              <a:rPr lang="en-US" sz="1500" dirty="0">
                <a:solidFill>
                  <a:srgbClr val="FFFFFF"/>
                </a:solidFill>
                <a:latin typeface="Outfit ExtraBold" pitchFamily="34" charset="0"/>
                <a:ea typeface="Outfit ExtraBold" pitchFamily="34" charset="-122"/>
                <a:cs typeface="Outfit ExtraBold" pitchFamily="34" charset="-120"/>
              </a:rPr>
              <a:t>MONITOR </a:t>
            </a:r>
            <a:pPr algn="l" indent="0" marL="0">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endParaRPr lang="en-US" sz="1500" dirty="0"/>
          </a:p>
        </p:txBody>
      </p:sp>
      <p:sp>
        <p:nvSpPr>
          <p:cNvPr id="12" name="Text 10"/>
          <p:cNvSpPr/>
          <p:nvPr/>
        </p:nvSpPr>
        <p:spPr>
          <a:xfrm>
            <a:off x="4424847" y="2854920"/>
            <a:ext cx="3354601"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Arimo" pitchFamily="34" charset="0"/>
                <a:ea typeface="Arimo" pitchFamily="34" charset="-122"/>
                <a:cs typeface="Arimo" pitchFamily="34" charset="-120"/>
              </a:rPr>
              <a:t>Dimensions with material signals that require ongoing scrutiny and trajectory tracking.</a:t>
            </a:r>
            <a:endParaRPr lang="en-US" sz="1200" dirty="0"/>
          </a:p>
        </p:txBody>
      </p:sp>
      <p:sp>
        <p:nvSpPr>
          <p:cNvPr id="13" name="Text 11"/>
          <p:cNvSpPr/>
          <p:nvPr/>
        </p:nvSpPr>
        <p:spPr>
          <a:xfrm>
            <a:off x="4424847" y="3479602"/>
            <a:ext cx="3354601" cy="839887"/>
          </a:xfrm>
          <a:prstGeom prst="rect">
            <a:avLst/>
          </a:prstGeom>
          <a:noFill/>
          <a:ln/>
        </p:spPr>
        <p:txBody>
          <a:bodyPr wrap="square" lIns="0" tIns="62849" rIns="0" bIns="0" rtlCol="0" anchor="t">
            <a:normAutofit/>
          </a:bodyPr>
          <a:lstStyle/>
          <a:p>
            <a:pPr algn="l" marL="243840" indent="-243840">
              <a:lnSpc>
                <a:spcPct val="130000"/>
              </a:lnSpc>
              <a:buSzPct val="100000"/>
              <a:buChar char="•"/>
            </a:pPr>
            <a:r>
              <a:rPr lang="en-US" sz="1200" dirty="0">
                <a:solidFill>
                  <a:srgbClr val="FFFFFF"/>
                </a:solidFill>
                <a:latin typeface="Arimo" pitchFamily="34" charset="0"/>
                <a:ea typeface="Arimo" pitchFamily="34" charset="-122"/>
                <a:cs typeface="Arimo" pitchFamily="34" charset="-120"/>
              </a:rPr>
              <a:t>Credit Risk (3.90)</a:t>
            </a:r>
            <a:endParaRPr lang="en-US" sz="1200" dirty="0"/>
          </a:p>
          <a:p>
            <a:pPr algn="l" marL="243840" indent="-243840">
              <a:lnSpc>
                <a:spcPct val="130000"/>
              </a:lnSpc>
              <a:buSzPct val="100000"/>
              <a:buChar char="•"/>
            </a:pPr>
            <a:r>
              <a:rPr lang="en-US" sz="1200" dirty="0">
                <a:solidFill>
                  <a:srgbClr val="FFFFFF"/>
                </a:solidFill>
                <a:latin typeface="Arimo" pitchFamily="34" charset="0"/>
                <a:ea typeface="Arimo" pitchFamily="34" charset="-122"/>
                <a:cs typeface="Arimo" pitchFamily="34" charset="-120"/>
              </a:rPr>
              <a:t>Customer Friction (3.00)</a:t>
            </a:r>
            <a:endParaRPr lang="en-US" sz="1200" dirty="0"/>
          </a:p>
          <a:p>
            <a:pPr algn="l" marL="243840" indent="-243840">
              <a:lnSpc>
                <a:spcPct val="130000"/>
              </a:lnSpc>
              <a:buSzPct val="100000"/>
              <a:buChar char="•"/>
            </a:pPr>
            <a:r>
              <a:rPr lang="en-US" sz="1200" dirty="0">
                <a:solidFill>
                  <a:srgbClr val="FFFFFF"/>
                </a:solidFill>
                <a:latin typeface="Arimo" pitchFamily="34" charset="0"/>
                <a:ea typeface="Arimo" pitchFamily="34" charset="-122"/>
                <a:cs typeface="Arimo" pitchFamily="34" charset="-120"/>
              </a:rPr>
              <a:t>Cash Efficiency (2.80)</a:t>
            </a:r>
            <a:endParaRPr lang="en-US" sz="1200" dirty="0"/>
          </a:p>
        </p:txBody>
      </p:sp>
      <p:sp>
        <p:nvSpPr>
          <p:cNvPr id="14" name="Shape 12"/>
          <p:cNvSpPr/>
          <p:nvPr/>
        </p:nvSpPr>
        <p:spPr>
          <a:xfrm>
            <a:off x="8099818" y="2304554"/>
            <a:ext cx="3556209" cy="2305943"/>
          </a:xfrm>
          <a:prstGeom prst="roundRect">
            <a:avLst>
              <a:gd name="adj" fmla="val 4906"/>
            </a:avLst>
          </a:prstGeom>
          <a:solidFill>
            <a:srgbClr val="F44444">
              <a:alpha val="95000"/>
            </a:srgbClr>
          </a:solidFill>
          <a:ln/>
        </p:spPr>
      </p:sp>
      <p:sp>
        <p:nvSpPr>
          <p:cNvPr id="15" name="Text 13"/>
          <p:cNvSpPr/>
          <p:nvPr/>
        </p:nvSpPr>
        <p:spPr>
          <a:xfrm>
            <a:off x="8256877" y="2453779"/>
            <a:ext cx="3242090" cy="245566"/>
          </a:xfrm>
          <a:prstGeom prst="rect">
            <a:avLst/>
          </a:prstGeom>
          <a:noFill/>
          <a:ln/>
        </p:spPr>
        <p:txBody>
          <a:bodyPr wrap="none" lIns="0" tIns="0" rIns="0" bIns="0" rtlCol="0" anchor="t"/>
          <a:lstStyle/>
          <a:p>
            <a:pPr algn="l" indent="0" marL="0">
              <a:lnSpc>
                <a:spcPct val="104000"/>
              </a:lnSpc>
              <a:buNone/>
            </a:pPr>
            <a:r>
              <a:rPr lang="en-US" sz="1500" dirty="0">
                <a:solidFill>
                  <a:srgbClr val="000000"/>
                </a:solidFill>
                <a:latin typeface="Outfit ExtraBold" pitchFamily="34" charset="0"/>
                <a:ea typeface="Outfit ExtraBold" pitchFamily="34" charset="-122"/>
                <a:cs typeface="Outfit ExtraBold" pitchFamily="34" charset="-120"/>
              </a:rPr>
              <a:t>IMPROVE / FIX ✗</a:t>
            </a:r>
            <a:endParaRPr lang="en-US" sz="1500" dirty="0"/>
          </a:p>
        </p:txBody>
      </p:sp>
      <p:sp>
        <p:nvSpPr>
          <p:cNvPr id="16" name="Text 14"/>
          <p:cNvSpPr/>
          <p:nvPr/>
        </p:nvSpPr>
        <p:spPr>
          <a:xfrm>
            <a:off x="8256877" y="2848570"/>
            <a:ext cx="3242090"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Arimo" pitchFamily="34" charset="0"/>
                <a:ea typeface="Arimo" pitchFamily="34" charset="-122"/>
                <a:cs typeface="Arimo" pitchFamily="34" charset="-120"/>
              </a:rPr>
              <a:t>Dimensions requiring improvement or recovery to strengthen the growth-quality thesis.</a:t>
            </a:r>
            <a:endParaRPr lang="en-US" sz="1200" dirty="0"/>
          </a:p>
        </p:txBody>
      </p:sp>
      <p:sp>
        <p:nvSpPr>
          <p:cNvPr id="17" name="Text 15"/>
          <p:cNvSpPr/>
          <p:nvPr/>
        </p:nvSpPr>
        <p:spPr>
          <a:xfrm>
            <a:off x="8256877" y="3718421"/>
            <a:ext cx="3242090" cy="542528"/>
          </a:xfrm>
          <a:prstGeom prst="rect">
            <a:avLst/>
          </a:prstGeom>
          <a:noFill/>
          <a:ln/>
        </p:spPr>
        <p:txBody>
          <a:bodyPr wrap="square" lIns="0" tIns="62849" rIns="0" bIns="0" rtlCol="0" anchor="t">
            <a:normAutofit/>
          </a:bodyPr>
          <a:lstStyle/>
          <a:p>
            <a:pPr algn="l" marL="243840" indent="-243840">
              <a:lnSpc>
                <a:spcPct val="130000"/>
              </a:lnSpc>
              <a:buSzPct val="100000"/>
              <a:buChar char="•"/>
            </a:pPr>
            <a:r>
              <a:rPr lang="en-US" sz="1200" dirty="0">
                <a:solidFill>
                  <a:srgbClr val="000000"/>
                </a:solidFill>
                <a:latin typeface="Arimo" pitchFamily="34" charset="0"/>
                <a:ea typeface="Arimo" pitchFamily="34" charset="-122"/>
                <a:cs typeface="Arimo" pitchFamily="34" charset="-120"/>
              </a:rPr>
              <a:t>Segment Diversification (3.30)</a:t>
            </a:r>
            <a:endParaRPr lang="en-US" sz="1200" dirty="0"/>
          </a:p>
          <a:p>
            <a:pPr algn="l" marL="243840" indent="-243840">
              <a:lnSpc>
                <a:spcPct val="130000"/>
              </a:lnSpc>
              <a:buSzPct val="100000"/>
              <a:buChar char="•"/>
            </a:pPr>
            <a:r>
              <a:rPr lang="en-US" sz="1200" dirty="0">
                <a:solidFill>
                  <a:srgbClr val="000000"/>
                </a:solidFill>
                <a:latin typeface="Arimo" pitchFamily="34" charset="0"/>
                <a:ea typeface="Arimo" pitchFamily="34" charset="-122"/>
                <a:cs typeface="Arimo" pitchFamily="34" charset="-120"/>
              </a:rPr>
              <a:t>Technology Platform Performance (2.00)</a:t>
            </a:r>
            <a:endParaRPr lang="en-US" sz="1200" dirty="0"/>
          </a:p>
        </p:txBody>
      </p:sp>
      <p:sp>
        <p:nvSpPr>
          <p:cNvPr id="18" name="Text 16"/>
          <p:cNvSpPr/>
          <p:nvPr/>
        </p:nvSpPr>
        <p:spPr>
          <a:xfrm>
            <a:off x="897113" y="4946253"/>
            <a:ext cx="10633107"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A2742"/>
                </a:solidFill>
                <a:latin typeface="Arimo" pitchFamily="34" charset="0"/>
                <a:ea typeface="Arimo" pitchFamily="34" charset="-122"/>
                <a:cs typeface="Arimo" pitchFamily="34" charset="-120"/>
              </a:rPr>
              <a:t>The conditional thesis: Q1 2026 growth is supported by strong public-data evidence, but growth quality remains uneven across dimensions. The primary areas requiring continued attention are cash conversion, credit risk, customer friction, segment diversification, and Technology Platform performance.</a:t>
            </a:r>
            <a:endParaRPr lang="en-US" sz="1200" dirty="0"/>
          </a:p>
        </p:txBody>
      </p:sp>
      <p:sp>
        <p:nvSpPr>
          <p:cNvPr id="19" name="Shape 17"/>
          <p:cNvSpPr/>
          <p:nvPr/>
        </p:nvSpPr>
        <p:spPr>
          <a:xfrm>
            <a:off x="661475" y="4778375"/>
            <a:ext cx="19050" cy="826095"/>
          </a:xfrm>
          <a:prstGeom prst="roundRect">
            <a:avLst>
              <a:gd name="adj" fmla="val 49999"/>
            </a:avLst>
          </a:prstGeom>
          <a:solidFill>
            <a:srgbClr val="00B3D9"/>
          </a:solidFill>
          <a:ln/>
        </p:spPr>
      </p:sp>
      <p:sp>
        <p:nvSpPr>
          <p:cNvPr id="20" name="Text 18"/>
          <p:cNvSpPr/>
          <p:nvPr/>
        </p:nvSpPr>
        <p:spPr>
          <a:xfrm>
            <a:off x="661475" y="5772348"/>
            <a:ext cx="10868745" cy="559991"/>
          </a:xfrm>
          <a:prstGeom prst="rect">
            <a:avLst/>
          </a:prstGeom>
          <a:noFill/>
          <a:ln/>
        </p:spPr>
        <p:txBody>
          <a:bodyPr wrap="square" lIns="0" tIns="0" rIns="0" bIns="0" rtlCol="0" anchor="t"/>
          <a:lstStyle/>
          <a:p>
            <a:pPr algn="ctr" indent="0" marL="0">
              <a:lnSpc>
                <a:spcPct val="130000"/>
              </a:lnSpc>
              <a:spcAft>
                <a:spcPts val="1300"/>
              </a:spcAft>
              <a:buNone/>
            </a:pPr>
            <a:r>
              <a:rPr lang="en-US" sz="950" dirty="0">
                <a:solidFill>
                  <a:srgbClr val="2A2742"/>
                </a:solidFill>
                <a:latin typeface="Arimo" pitchFamily="34" charset="0"/>
                <a:ea typeface="Arimo" pitchFamily="34" charset="-122"/>
                <a:cs typeface="Arimo" pitchFamily="34" charset="-120"/>
              </a:rPr>
              <a:t>Independent Business Analysis case study based on public data only. Q1 2026. No internal SoFi data, investment view, or valuation implied.</a:t>
            </a:r>
            <a:endParaRPr lang="en-US" sz="950" dirty="0"/>
          </a:p>
          <a:p>
            <a:pPr algn="ctr" indent="0" marL="0">
              <a:lnSpc>
                <a:spcPct val="130000"/>
              </a:lnSpc>
              <a:buNone/>
            </a:pPr>
            <a:r>
              <a:rPr lang="en-US" sz="950" dirty="0">
                <a:solidFill>
                  <a:srgbClr val="2A2742"/>
                </a:solidFill>
                <a:latin typeface="Arimo" pitchFamily="34" charset="0"/>
                <a:ea typeface="Arimo" pitchFamily="34" charset="-122"/>
                <a:cs typeface="Arimo" pitchFamily="34" charset="-120"/>
              </a:rPr>
              <a:t>Prepared by Junaid Shaik</a:t>
            </a:r>
            <a:endParaRPr lang="en-US" sz="950" dirty="0"/>
          </a:p>
        </p:txBody>
      </p:sp>
      <p:pic>
        <p:nvPicPr>
          <p:cNvPr id="21" name="Image 0" descr="preencoded.png">    </p:cNvPr>
          <p:cNvPicPr>
            <a:picLocks noChangeAspect="1"/>
          </p:cNvPicPr>
          <p:nvPr/>
        </p:nvPicPr>
        <p:blipFill>
          <a:blip r:embed="rId1"/>
          <a:stretch>
            <a:fillRect/>
          </a:stretch>
        </p:blipFill>
        <p:spPr>
          <a:xfrm>
            <a:off x="115686" y="130473"/>
            <a:ext cx="575752" cy="3013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2026-08-17T11:06:32Z</dcterms:created>
  <dcterms:modified xsi:type="dcterms:W3CDTF">2026-08-17T11:06:32Z</dcterms:modified>
</cp:coreProperties>
</file>